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640" r:id="rId2"/>
    <p:sldId id="3642" r:id="rId10"/>
    <p:sldId id="3643" r:id="rId11"/>
    <p:sldId id="3644" r:id="rId9"/>
    <p:sldId id="3645" r:id="rId8"/>
    <p:sldId id="3646" r:id="rId7"/>
    <p:sldId id="3647" r:id="rId6"/>
    <p:sldId id="3648" r:id="rId5"/>
    <p:sldId id="3649" r:id="rId4"/>
    <p:sldId id="3650" r:id="rId3"/>
    <p:sldId id="3651" r:id="rId19"/>
    <p:sldId id="3652" r:id="rId20"/>
    <p:sldId id="3653" r:id="rId21"/>
    <p:sldId id="3654" r:id="rId22"/>
    <p:sldId id="3655" r:id="rId23"/>
    <p:sldId id="3656" r:id="rId24"/>
    <p:sldId id="3657" r:id="rId25"/>
    <p:sldId id="3658" r:id="rId26"/>
    <p:sldId id="3659" r:id="rId27"/>
    <p:sldId id="3660" r:id="rId28"/>
    <p:sldId id="3661" r:id="rId29"/>
    <p:sldId id="3662" r:id="rId30"/>
    <p:sldId id="3663" r:id="rId31"/>
    <p:sldId id="364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73" d="100"/>
          <a:sy n="73" d="100"/>
        </p:scale>
        <p:origin x="4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E7FC8"/>
            </a:solidFill>
          </c:spPr>
          <c:cat>
            <c:strRef>
              <c:f>Sheet1!$A$2:$A$3</c:f>
              <c:strCache>
                <c:ptCount val="2"/>
                <c:pt idx="0">
                  <c:v>Item-kNN</c:v>
                </c:pt>
                <c:pt idx="1">
                  <c:v>GRU4Rec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0.5204761818740178</c:v>
                </c:pt>
                <c:pt idx="1">
                  <c:v>0.6900843615080297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SR-GNN paper</c:v>
                </c:pt>
              </c:strCache>
            </c:strRef>
          </c:tx>
          <c:spPr>
            <a:solidFill>
              <a:srgbClr val="8A94A3"/>
            </a:solidFill>
          </c:spPr>
          <c:cat>
            <c:strRef>
              <c:f>Sheet1!$A$2:$A$3</c:f>
              <c:strCache>
                <c:ptCount val="2"/>
                <c:pt idx="0">
                  <c:v>Item-kNN</c:v>
                </c:pt>
                <c:pt idx="1">
                  <c:v>GRU4Rec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0.516</c:v>
                </c:pt>
                <c:pt idx="1">
                  <c:v>0.6064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 i="0">
                <a:solidFill>
                  <a:srgbClr val="1B2A41"/>
                </a:solidFill>
                <a:latin typeface="Arial"/>
              </a:rPr>
              <a:t>Test Recall@20 (seed 42)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Recall@20</c:v>
                </c:pt>
              </c:strCache>
            </c:strRef>
          </c:tx>
          <c:spPr>
            <a:solidFill>
              <a:srgbClr val="1E7FC8"/>
            </a:solidFill>
          </c:spPr>
          <c:dPt>
            <c:idx val="0"/>
            <c:spPr>
              <a:solidFill>
                <a:srgbClr val="8A94A3"/>
              </a:solidFill>
            </c:spPr>
          </c:dPt>
          <c:dPt>
            <c:idx val="1"/>
            <c:spPr>
              <a:solidFill>
                <a:srgbClr val="8A94A3"/>
              </a:solidFill>
            </c:spPr>
          </c:dPt>
          <c:dPt>
            <c:idx val="2"/>
            <c:spPr>
              <a:solidFill>
                <a:srgbClr val="E86A10"/>
              </a:solidFill>
            </c:spPr>
          </c:dPt>
          <c:dPt>
            <c:idx val="3"/>
            <c:spPr>
              <a:solidFill>
                <a:srgbClr val="1E7FC8"/>
              </a:solidFill>
            </c:spPr>
          </c:dPt>
          <c:dPt>
            <c:idx val="4"/>
            <c:spPr>
              <a:solidFill>
                <a:srgbClr val="E86A10"/>
              </a:solidFill>
            </c:spPr>
          </c:dPt>
          <c:dPt>
            <c:idx val="5"/>
            <c:spPr>
              <a:solidFill>
                <a:srgbClr val="1E7FC8"/>
              </a:solidFill>
            </c:spPr>
          </c:dPt>
          <c:dPt>
            <c:idx val="6"/>
            <c:spPr>
              <a:solidFill>
                <a:srgbClr val="E86A10"/>
              </a:solidFill>
            </c:spPr>
          </c:dPt>
          <c:dPt>
            <c:idx val="7"/>
            <c:spPr>
              <a:solidFill>
                <a:srgbClr val="1E7FC8"/>
              </a:solidFill>
            </c:spPr>
          </c:dPt>
          <c:dPt>
            <c:idx val="8"/>
            <c:spPr>
              <a:solidFill>
                <a:srgbClr val="E86A10"/>
              </a:solidFill>
            </c:spPr>
          </c:dPt>
          <c:dPt>
            <c:idx val="9"/>
            <c:spPr>
              <a:solidFill>
                <a:srgbClr val="1E7FC8"/>
              </a:solidFill>
            </c:spPr>
          </c:dPt>
          <c:cat>
            <c:strRef>
              <c:f>Sheet1!$A$2:$A$11</c:f>
              <c:strCache>
                <c:ptCount val="10"/>
                <c:pt idx="0">
                  <c:v>GRU4Rec</c:v>
                </c:pt>
                <c:pt idx="1">
                  <c:v>GRU4Rec (wide)</c:v>
                </c:pt>
                <c:pt idx="2">
                  <c:v>+KAN head</c:v>
                </c:pt>
                <c:pt idx="3">
                  <c:v>+MLP head</c:v>
                </c:pt>
                <c:pt idx="4">
                  <c:v>+KAN input</c:v>
                </c:pt>
                <c:pt idx="5">
                  <c:v>+MLP input</c:v>
                </c:pt>
                <c:pt idx="6">
                  <c:v>KAN-GRU cell (RBF)</c:v>
                </c:pt>
                <c:pt idx="7">
                  <c:v>MLP-GRU cell</c:v>
                </c:pt>
                <c:pt idx="8">
                  <c:v>KAN-GRU cell (rational)</c:v>
                </c:pt>
                <c:pt idx="9">
                  <c:v>MLP-GRU cell (matched)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0.6900843615080297</c:v>
                </c:pt>
                <c:pt idx="1">
                  <c:v>0.6828224072836317</c:v>
                </c:pt>
                <c:pt idx="2">
                  <c:v>0.6832378922268186</c:v>
                </c:pt>
                <c:pt idx="3">
                  <c:v>0.6877540329136334</c:v>
                </c:pt>
                <c:pt idx="4">
                  <c:v>0.666853333815055</c:v>
                </c:pt>
                <c:pt idx="5">
                  <c:v>0.6853695106309952</c:v>
                </c:pt>
                <c:pt idx="6">
                  <c:v>0.6925772711671514</c:v>
                </c:pt>
                <c:pt idx="7">
                  <c:v>0.7015734234152863</c:v>
                </c:pt>
                <c:pt idx="8">
                  <c:v>0.7095218310240801</c:v>
                </c:pt>
                <c:pt idx="9">
                  <c:v>0.7034702025037484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3"/>
          <c:min val="0.6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1B2A41"/>
                </a:solidFill>
                <a:latin typeface="Arial"/>
              </a:rPr>
              <a:t>Instacart: test Recall@10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1E7FC8"/>
            </a:solidFill>
          </c:spPr>
          <c:dPt>
            <c:idx val="0"/>
            <c:spPr>
              <a:solidFill>
                <a:srgbClr val="8A94A3"/>
              </a:solidFill>
            </c:spPr>
          </c:dPt>
          <c:dPt>
            <c:idx val="1"/>
            <c:spPr>
              <a:solidFill>
                <a:srgbClr val="8A94A3"/>
              </a:solidFill>
            </c:spPr>
          </c:dPt>
          <c:dPt>
            <c:idx val="2"/>
            <c:spPr>
              <a:solidFill>
                <a:srgbClr val="8A94A3"/>
              </a:solidFill>
            </c:spPr>
          </c:dPt>
          <c:dPt>
            <c:idx val="3"/>
            <c:spPr>
              <a:solidFill>
                <a:srgbClr val="E86A10"/>
              </a:solidFill>
            </c:spPr>
          </c:dPt>
          <c:dPt>
            <c:idx val="4"/>
            <c:spPr>
              <a:solidFill>
                <a:srgbClr val="1E7FC8"/>
              </a:solidFill>
            </c:spPr>
          </c:dPt>
          <c:dPt>
            <c:idx val="5"/>
            <c:spPr>
              <a:solidFill>
                <a:srgbClr val="E86A10"/>
              </a:solidFill>
            </c:spPr>
          </c:dPt>
          <c:dPt>
            <c:idx val="6"/>
            <c:spPr>
              <a:solidFill>
                <a:srgbClr val="1E7FC8"/>
              </a:solidFill>
            </c:spPr>
          </c:dPt>
          <c:dPt>
            <c:idx val="7"/>
            <c:spPr>
              <a:solidFill>
                <a:srgbClr val="E86A10"/>
              </a:solidFill>
            </c:spPr>
          </c:dPt>
          <c:dPt>
            <c:idx val="8"/>
            <c:spPr>
              <a:solidFill>
                <a:srgbClr val="1E7FC8"/>
              </a:solidFill>
            </c:spPr>
          </c:dPt>
          <c:dPt>
            <c:idx val="9"/>
            <c:spPr>
              <a:solidFill>
                <a:srgbClr val="8A94A3"/>
              </a:solidFill>
            </c:spPr>
          </c:dPt>
          <c:dPt>
            <c:idx val="10"/>
            <c:spPr>
              <a:solidFill>
                <a:srgbClr val="E86A10"/>
              </a:solidFill>
            </c:spPr>
          </c:dPt>
          <c:cat>
            <c:strRef>
              <c:f>Sheet1!$A$2:$A$12</c:f>
              <c:strCache>
                <c:ptCount val="11"/>
                <c:pt idx="0">
                  <c:v>P-TopFreq</c:v>
                </c:pt>
                <c:pt idx="1">
                  <c:v>TIFU-KNN</c:v>
                </c:pt>
                <c:pt idx="2">
                  <c:v>Basket-GRU</c:v>
                </c:pt>
                <c:pt idx="3">
                  <c:v>+KAN head</c:v>
                </c:pt>
                <c:pt idx="4">
                  <c:v>+MLP head</c:v>
                </c:pt>
                <c:pt idx="5">
                  <c:v>+KAN input</c:v>
                </c:pt>
                <c:pt idx="6">
                  <c:v>+MLP input</c:v>
                </c:pt>
                <c:pt idx="7">
                  <c:v>KAN-GRU cell</c:v>
                </c:pt>
                <c:pt idx="8">
                  <c:v>MLP-GRU cell</c:v>
                </c:pt>
                <c:pt idx="9">
                  <c:v>Logistic (features)</c:v>
                </c:pt>
                <c:pt idx="10">
                  <c:v>KAN-NBR (additive)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0.3246095188208998</c:v>
                </c:pt>
                <c:pt idx="1">
                  <c:v>0.3522121938431525</c:v>
                </c:pt>
                <c:pt idx="2">
                  <c:v>0.24525542016558027</c:v>
                </c:pt>
                <c:pt idx="3">
                  <c:v>0.14198176686934605</c:v>
                </c:pt>
                <c:pt idx="4">
                  <c:v>0.2374527147921411</c:v>
                </c:pt>
                <c:pt idx="5">
                  <c:v>0.10673128369848753</c:v>
                </c:pt>
                <c:pt idx="6">
                  <c:v>0.22925525191235496</c:v>
                </c:pt>
                <c:pt idx="7">
                  <c:v>0.2516535100307601</c:v>
                </c:pt>
                <c:pt idx="8">
                  <c:v>0.26386768163789776</c:v>
                </c:pt>
                <c:pt idx="9">
                  <c:v>0.35318001516575487</c:v>
                </c:pt>
                <c:pt idx="10">
                  <c:v>0.3548405880178127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2"/>
          <c:min val="0.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1B2A41"/>
                </a:solidFill>
                <a:latin typeface="Arial"/>
              </a:rPr>
              <a:t>Dunnhumby: test Recall@10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1E7FC8"/>
            </a:solidFill>
          </c:spPr>
          <c:dPt>
            <c:idx val="0"/>
            <c:spPr>
              <a:solidFill>
                <a:srgbClr val="8A94A3"/>
              </a:solidFill>
            </c:spPr>
          </c:dPt>
          <c:dPt>
            <c:idx val="1"/>
            <c:spPr>
              <a:solidFill>
                <a:srgbClr val="8A94A3"/>
              </a:solidFill>
            </c:spPr>
          </c:dPt>
          <c:dPt>
            <c:idx val="2"/>
            <c:spPr>
              <a:solidFill>
                <a:srgbClr val="8A94A3"/>
              </a:solidFill>
            </c:spPr>
          </c:dPt>
          <c:dPt>
            <c:idx val="3"/>
            <c:spPr>
              <a:solidFill>
                <a:srgbClr val="E86A10"/>
              </a:solidFill>
            </c:spPr>
          </c:dPt>
          <c:dPt>
            <c:idx val="4"/>
            <c:spPr>
              <a:solidFill>
                <a:srgbClr val="1E7FC8"/>
              </a:solidFill>
            </c:spPr>
          </c:dPt>
          <c:dPt>
            <c:idx val="5"/>
            <c:spPr>
              <a:solidFill>
                <a:srgbClr val="E86A10"/>
              </a:solidFill>
            </c:spPr>
          </c:dPt>
          <c:dPt>
            <c:idx val="6"/>
            <c:spPr>
              <a:solidFill>
                <a:srgbClr val="1E7FC8"/>
              </a:solidFill>
            </c:spPr>
          </c:dPt>
          <c:dPt>
            <c:idx val="7"/>
            <c:spPr>
              <a:solidFill>
                <a:srgbClr val="E86A10"/>
              </a:solidFill>
            </c:spPr>
          </c:dPt>
          <c:dPt>
            <c:idx val="8"/>
            <c:spPr>
              <a:solidFill>
                <a:srgbClr val="1E7FC8"/>
              </a:solidFill>
            </c:spPr>
          </c:dPt>
          <c:dPt>
            <c:idx val="9"/>
            <c:spPr>
              <a:solidFill>
                <a:srgbClr val="8A94A3"/>
              </a:solidFill>
            </c:spPr>
          </c:dPt>
          <c:dPt>
            <c:idx val="10"/>
            <c:spPr>
              <a:solidFill>
                <a:srgbClr val="E86A10"/>
              </a:solidFill>
            </c:spPr>
          </c:dPt>
          <c:cat>
            <c:strRef>
              <c:f>Sheet1!$A$2:$A$12</c:f>
              <c:strCache>
                <c:ptCount val="11"/>
                <c:pt idx="0">
                  <c:v>P-TopFreq</c:v>
                </c:pt>
                <c:pt idx="1">
                  <c:v>TIFU-KNN</c:v>
                </c:pt>
                <c:pt idx="2">
                  <c:v>Basket-GRU</c:v>
                </c:pt>
                <c:pt idx="3">
                  <c:v>+KAN head</c:v>
                </c:pt>
                <c:pt idx="4">
                  <c:v>+MLP head</c:v>
                </c:pt>
                <c:pt idx="5">
                  <c:v>+KAN input</c:v>
                </c:pt>
                <c:pt idx="6">
                  <c:v>+MLP input</c:v>
                </c:pt>
                <c:pt idx="7">
                  <c:v>KAN-GRU cell</c:v>
                </c:pt>
                <c:pt idx="8">
                  <c:v>MLP-GRU cell</c:v>
                </c:pt>
                <c:pt idx="9">
                  <c:v>Logistic (features)</c:v>
                </c:pt>
                <c:pt idx="10">
                  <c:v>KAN-NBR (additive)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0.18935491147748104</c:v>
                </c:pt>
                <c:pt idx="1">
                  <c:v>0.201954111160705</c:v>
                </c:pt>
                <c:pt idx="2">
                  <c:v>0.16628119558549637</c:v>
                </c:pt>
                <c:pt idx="3">
                  <c:v>0.15354327099846227</c:v>
                </c:pt>
                <c:pt idx="4">
                  <c:v>0.17216993543585965</c:v>
                </c:pt>
                <c:pt idx="5">
                  <c:v>0.16337071184591329</c:v>
                </c:pt>
                <c:pt idx="6">
                  <c:v>0.17871232078749943</c:v>
                </c:pt>
                <c:pt idx="7">
                  <c:v>0.1708786963326922</c:v>
                </c:pt>
                <c:pt idx="8">
                  <c:v>0.17261223954353797</c:v>
                </c:pt>
                <c:pt idx="9">
                  <c:v>0.20595046974014247</c:v>
                </c:pt>
                <c:pt idx="10">
                  <c:v>0.21010374403960813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5"/>
          <c:min val="0.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sequential recommendation tasks; both are modelled with GRUs, which gives a common place to insert KAN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KAN: learnable functions on edges instead of fixed activations on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3/17/2022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 smtClean="0"/>
              <a:t>Major Project</a:t>
            </a:r>
            <a:endParaRPr lang="en-IN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395728"/>
            <a:ext cx="10360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/>
              <a:t>Title: Kolmogorov-Arnold Networks in Recurrent Recommenders: Session-Based and Next-Basket Prediction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6217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Presented by:</a:t>
            </a:r>
          </a:p>
          <a:p>
            <a:r>
              <a:rPr lang="en-IN" dirty="0" smtClean="0"/>
              <a:t>Abhishek Yadav  |  R2142231410  |  SAP 500124297</a:t>
            </a:r>
          </a:p>
          <a:p>
            <a:r>
              <a:rPr lang="en-IN" dirty="0"/>
              <a:t>Saksham Agrawal  |  R2142231383  |  SAP 500121969</a:t>
            </a:r>
          </a:p>
          <a:p>
            <a:r>
              <a:rPr lang="en-IN" dirty="0"/>
              <a:t>Yash Dagar  |  R2142231424  |  SAP 500125147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Mentored by:</a:t>
            </a:r>
            <a:endParaRPr lang="en-IN" dirty="0"/>
          </a:p>
          <a:p>
            <a:r>
              <a:rPr/>
              <a:t>Dr. Amar Jindal</a:t>
            </a:r>
          </a:p>
          <a:p>
            <a:r>
              <a:rPr/>
              <a:t>Assistant Professor,</a:t>
            </a:r>
          </a:p>
          <a:p>
            <a:r>
              <a:rPr/>
              <a:t>Data Science Cluster</a:t>
            </a:r>
          </a:p>
        </p:txBody>
      </p:sp>
      <p:sp>
        <p:nvSpPr>
          <p:cNvPr id="10" name="Stage"/>
          <p:cNvSpPr txBox="1"/>
          <p:nvPr/>
        </p:nvSpPr>
        <p:spPr>
          <a:xfrm>
            <a:off x="3108960" y="3429000"/>
            <a:ext cx="5971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8E24AA"/>
                </a:solidFill>
                <a:latin typeface="Arial"/>
              </a:rPr>
              <a:t>End-Term Evaluation</a:t>
            </a: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Content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32588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19" y="1307592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Introduction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0756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2057400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Literature Review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825496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807208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575304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557016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Methodology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132588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307592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Working Model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20756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057400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Results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825496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807208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Conclusion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3575304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3557016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Technical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03520" cy="3886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Session-based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Arial"/>
              </a:rPr>
              <a:t>Anonymous browsing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00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Input: the clicks so far, i1, i2, ..., it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Output: a ranking of all items for the next click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No user profile: visitors are anonymous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Model: GRU4Rec (gated recurrent unit)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Data: YooChoose (RecSys Challenge 2015)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3886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Next-basket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Arial"/>
              </a:rPr>
              <a:t>Returning grocery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800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Input: the customer's past baskets B1 ... BT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Output: a ranking of all items for basket BT+1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Long histories, most items are re-purchases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Model: basket-GRU (van Maasakkers et al., 2023)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Data: Instacart, Dunnhumby Complete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035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6A10"/>
                </a:solidFill>
                <a:latin typeface="Arial"/>
              </a:rPr>
              <a:t>Common core: </a:t>
            </a:r>
            <a:r>
              <a:rPr sz="1600" b="0" i="0">
                <a:solidFill>
                  <a:srgbClr val="2B2B2B"/>
                </a:solidFill>
                <a:latin typeface="Arial"/>
              </a:rPr>
              <a:t>both tasks use a GRU. This project asks where, if anywhere, Kolmogorov-Arnold Network (KAN) layers improve these GRU recommenders when compared fairly.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Technical Concepts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486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Kolmogorov-Arnold Network (KAN) layer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A learnable univariate function on every edge:</a:t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E86A10"/>
                </a:solidFill>
                <a:latin typeface="Arial"/>
              </a:rPr>
              <a:t>y_o = Σ_i φ_o,i(x_i),   φ(x) = w·silu(x) + Σ_k c_k B_k(x)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Four basis families B_k implemented: cubic B-spline, Gaussian RBF (FastKAN), Chebyshev, group-rational (GR-KAN)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GRU4Rec: official PyTorch code, session-parallel mini-batches, 2048 shared negatives, cross-entropy with logQ correction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Basket-GRU: multi-hot basket in, sigmoid score for every product out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Parameter-matched MLP control for every KAN block, so gains from extra parameters are not credited to the KAN</a:t>
            </a:r>
          </a:p>
        </p:txBody>
      </p:sp>
      <p:pic>
        <p:nvPicPr>
          <p:cNvPr id="4" name="Picture 3" descr="kan_b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257800" cy="1337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5080" y="288036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Basis functions used inside the KAN layers (from our code)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34290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0" y="35204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2A41"/>
                </a:solidFill>
                <a:latin typeface="Arial"/>
              </a:rPr>
              <a:t>Residual KAN block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E86A10"/>
                </a:solidFill>
                <a:latin typeface="Arial"/>
              </a:rPr>
              <a:t>h' = h + KAN(LayerNorm(h))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Output layer initialised to zero, so each variant starts exactly as its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Motivation and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Anonymous and privacy-restricted sessions make profile-based recommenders unusable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KANs are claimed to be more accurate per parameter and more interpretable than MLPs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Later studies (Yu et al. 2024; Hou et al. 2025) find KANs rarely win when parameters are matched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2B2B2B"/>
                </a:solidFill>
                <a:latin typeface="Arial"/>
              </a:rPr>
              <a:t>Our first draft compared KAN and GRU on a leaky split with a broken B-spline, so its numbers could not support any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88720"/>
            <a:ext cx="5257800" cy="475488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629400" y="1371600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B2A41"/>
                </a:solidFill>
                <a:latin typeface="Arial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920240"/>
            <a:ext cx="4709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Determine whether, and where, KAN layers improve GRU-based session and next-basket recommenders, under a protocol that allows a fair conclusion: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standard, leakage-free splits comparable with published work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verified implementations of baselines and KAN layers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parameter-matched MLP controls for every KAN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evaluation on both session and basket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1. Introduction: Applications and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Area of application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1907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E-commerce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next product in a browsing session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7919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Online grocery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pre-filled next basket, reminders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3931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6616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Streaming and news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next video, song or article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59943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2628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Privacy-first platforms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no long-term tracking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143000"/>
            <a:ext cx="6675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Datasets and input format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846320" y="1645920"/>
          <a:ext cx="676656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737360"/>
                <a:gridCol w="173736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YooChoose 1/64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Instacart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Dunnhumby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next click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next basket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next basket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Raw 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session, time, item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user, order, product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household, basket, day, product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Model 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item ID sequence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multi-hot baskets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multi-hot baskets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Users / sessions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139,628 sessions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20,620 users*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2,478 households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17,264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12,058 groups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10,370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Test targets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55,357 clicks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10,310 baskets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1,239 baskets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by time (last day)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last basket, users 50/50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last basket, users 50/50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46320" y="544068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* Mac profile: random 10% of Instacart users; the GPU profile uses all 206,209. Preprocessing follows GRU4Rec / SR-GNN and van Maasakkers et al. (2023).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2. Literature Review: Related 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927080" cy="47183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4600"/>
                <a:gridCol w="1005840"/>
                <a:gridCol w="2286000"/>
                <a:gridCol w="512064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Relevance / limitation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Hidasi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2016/18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GRU4Rec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Strong session baseline; tuned version used here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Hidasi &amp; Czapp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Reimplementation study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Third-party GRU4Rec ports score 30-99% lower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Wu et al. (SR-GNN)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Graph 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Standard yoochoose1/64 benchmark table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Hu et al. (TIFU-KNN)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Frequency + kNN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Simple model beats most neural NBR models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Li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NBR reality check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Repeat items dominate next-basket 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van Maasakkers et al.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Basket-GRU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Our basket baseline and protocol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Liu et al. (KAN)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Learnable edge functions; slow to train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Yu et al.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vs MLP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With matched size, KAN wins only on symbolic formulas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Genet &amp; Inzirillo (TKAN)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 LSTM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inside a gated recurrent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Park et al. (CF-KAN)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autoencoder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Only KAN recommender with a matched MLP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Xu et al. (KANRec)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interest fusion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in sequential recommendation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2. Literature Review: Inference and Research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Session-based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GRU4Rec remains a strong baseline when the official code is used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Weak GRU4Rec results in many papers come from flawed reimplementations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8872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Next-basket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Repeat purchases carry most of the signal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Personal-frequency baselines and TIFU-KNN are very hard to beat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188720"/>
            <a:ext cx="3474720" cy="25146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5319" y="13258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182880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Interpretable learned functions, but slower than MLPs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Gains often vanish against an MLP of the same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92708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Research gap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No published work places KAN layers inside GRU4Rec or applies KANs to next-basket recommendation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Few KAN recommenders control for model size with a parameter-matched MLP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6A10"/>
                </a:solidFill>
                <a:latin typeface="Arial"/>
              </a:rPr>
              <a:t>Our question: </a:t>
            </a:r>
            <a:r>
              <a:rPr sz="1500" b="0" i="0">
                <a:solidFill>
                  <a:srgbClr val="2B2B2B"/>
                </a:solidFill>
                <a:latin typeface="Arial"/>
              </a:rPr>
              <a:t>where in a GRU recommender does a KAN layer help, compared with an MLP of the same size, on standard benchmarks?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2. Literature Review: SWOT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1344168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6245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Official GRU4Rec and published protocols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Parameter-matched MLP control for every KAN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Unit-tested KAN layer with four bases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Three datasets, two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00800" y="1344168"/>
            <a:ext cx="457200" cy="457200"/>
          </a:xfrm>
          <a:prstGeom prst="ellipse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36245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layers are slower to train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Extra hyperparameters (basis, grid size)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Mac runs limited to one seed and a 10% Instacart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68680" y="3950207"/>
            <a:ext cx="457200" cy="457200"/>
          </a:xfrm>
          <a:prstGeom prst="ellipse">
            <a:avLst/>
          </a:prstGeom>
          <a:solidFill>
            <a:srgbClr val="1E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6849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Opportunities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Interpretable models for repeat purchasing (KAN-NBR)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GPU runs on the UPES Blackwell cluster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in attention models (SASRec)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400800" y="3950207"/>
            <a:ext cx="457200" cy="457200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968496"/>
            <a:ext cx="4297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A41"/>
                </a:solidFill>
                <a:latin typeface="Arial"/>
              </a:rPr>
              <a:t>Threats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Results may show no KAN advantage over MLPs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Transformer recommenders dominate recent work</a:t>
            </a:r>
          </a:p>
          <a:p>
            <a:pPr algn="l" marL="201168" indent="-201168">
              <a:spcAft>
                <a:spcPts val="5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Compute time for many variants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3.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927080" cy="118872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20700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86A10"/>
                </a:solidFill>
                <a:latin typeface="Arial"/>
              </a:rPr>
              <a:t>Main objective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Arial"/>
              </a:rPr>
              <a:t>Build and fairly evaluate KAN-augmented GRU recommenders for session-based and next-basket prediction, and report where KAN layers help and where they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Sub-objectives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306324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Correct the methodological and reporting errors of the first draft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3154680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06324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Implement and unit-test a KAN layer with B-spline, RBF, Chebyshev and rational bases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17880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087368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Add KAN layers to official GRU4Rec in three places: head, input, GRU cell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417880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087368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Apply the same placements to the basket-GRU on Instacart and Dunnhumby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202936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5111496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Compare with parameter-matched MLPs and strong non-neural baselines, with significance tests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5202936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111496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Propose KAN-NBR, an interpretable additive KAN over repeat-purchase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4. Methodology: Reference Software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 placements in GRU4Rec (same placements in the basket-GRU)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Item i_t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(or basket)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7830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Embedding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E[i_t]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39" y="2286000"/>
            <a:ext cx="365761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178308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Input block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S2: KAN / MLP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2286000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46520" y="178308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GRU cell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S3: KAN-GRU cell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86000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03920" y="178308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Head block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S1: KAN / MLP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38160" y="2286000"/>
            <a:ext cx="36576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04120" y="178308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Scores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E·h' +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84080" y="2286000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154680"/>
          <a:ext cx="10927080" cy="21031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626364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Placement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What changes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Matched control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S1  KAN head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h' = h + KAN(LN(h)) before dot-product scoring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+MLP head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S2  KAN 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x' = x + KAN(LN(E[i])) before the GRU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+MLP 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S3  KAN-GRU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gates stay linear + sigmoid; candidate n = tanh(KAN([x, r⊙h]))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MLP-GRU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Draft models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first-draft ungated Pure KAN and Hybrid, re-run fairly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B2B2B"/>
                          </a:solidFill>
                          <a:latin typeface="Arial"/>
                        </a:rPr>
                        <a:t>Draft Hybrid (MLP)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" y="5440680"/>
            <a:ext cx="10927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6A10"/>
                </a:solidFill>
                <a:latin typeface="Arial"/>
              </a:rPr>
              <a:t>KAN-NBR: </a:t>
            </a:r>
            <a:r>
              <a:rPr sz="1500" b="0" i="0">
                <a:solidFill>
                  <a:srgbClr val="2B2B2B"/>
                </a:solidFill>
                <a:latin typeface="Arial"/>
              </a:rPr>
              <a:t>for baskets, an additive KAN over 7 repeat-purchase features (recency, count, share, decayed frequency, popularity, overdue ratio, in-history) gives one plottable curve per feature.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4. Methodology: Steps and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41247" y="13898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Data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YooChoose, Instacart, Dunnhumby with leakage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dataset tables, EDA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544568" y="13898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3716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4 bases, residual block, matched MLP, unit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kanrec/kan.py, 41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1887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47888" y="1389888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3716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Baselines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9659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official GRU4Rec, basket-GRU, Pop, kNN, TopFreq, TIFU-KNN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880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reproduction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247" y="3904487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862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 variants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8055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head, input, cell; MLP controls; KAN-NBR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949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results per model and seed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7033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544568" y="3904487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8862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8055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Recall, MRR, NDCG, P@|B|, repeat/explore, Wilcoxon + Holm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949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tables, figures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70332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247888" y="3904487"/>
            <a:ext cx="384048" cy="384048"/>
          </a:xfrm>
          <a:prstGeom prst="ellipse">
            <a:avLst/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8862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480559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notebook-generated tables in LaTeX, SRS, slides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3949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6A10"/>
                </a:solidFill>
                <a:latin typeface="Arial"/>
              </a:rPr>
              <a:t>Deliverable: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report, SRS, decks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4. Methodology: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912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632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352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073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793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513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233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954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674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394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114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5552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2755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9957" y="1143000"/>
            <a:ext cx="4772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50876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19" y="155448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Literature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9352" y="1618488"/>
            <a:ext cx="1376743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19" y="210312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Data acquisition and preprocessing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6554" y="2167127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260604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19" y="26517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module and unit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0959" y="2715768"/>
            <a:ext cx="1376743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19" y="320040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Baselines and reproduction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68162" y="3264408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46B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0080" y="370332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19" y="3749039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variants and MLP controls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22567" y="3813048"/>
            <a:ext cx="2331148" cy="283464"/>
          </a:xfrm>
          <a:prstGeom prst="roundRect">
            <a:avLst>
              <a:gd name="adj" fmla="val 30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19" y="429768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Next-basket models and KAN-NBR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6972" y="4361688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0080" y="4800600"/>
            <a:ext cx="10927080" cy="502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31519" y="484632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Ablations and GPU runs (3 seeds)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1377" y="4910328"/>
            <a:ext cx="1853946" cy="283464"/>
          </a:xfrm>
          <a:prstGeom prst="roundRect">
            <a:avLst>
              <a:gd name="adj" fmla="val 30000"/>
            </a:avLst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19" y="53949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Analysis, report, SRS, slides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08579" y="5458968"/>
            <a:ext cx="2331148" cy="283464"/>
          </a:xfrm>
          <a:prstGeom prst="roundRect">
            <a:avLst>
              <a:gd name="adj" fmla="val 30000"/>
            </a:avLst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7731252" y="1463040"/>
            <a:ext cx="0" cy="4526280"/>
          </a:xfrm>
          <a:prstGeom prst="line">
            <a:avLst/>
          </a:prstGeom>
          <a:ln w="25400">
            <a:solidFill>
              <a:srgbClr val="F28C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16852" y="5989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28C28"/>
                </a:solidFill>
                <a:latin typeface="Arial"/>
              </a:rPr>
              <a:t>Mid-term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548872" y="1463040"/>
            <a:ext cx="0" cy="4526280"/>
          </a:xfrm>
          <a:prstGeom prst="line">
            <a:avLst/>
          </a:prstGeom>
          <a:ln w="25400">
            <a:solidFill>
              <a:srgbClr val="8E24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634472" y="59893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8E24AA"/>
                </a:solidFill>
                <a:latin typeface="Arial"/>
              </a:rPr>
              <a:t>End-term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5. Working Model: Requirements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023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Full SRS: KAN_Rec_SRS.docx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Functional: download, preprocess, train, evaluate and report every model from one notebook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Hardware profiles: Mac (Apple MPS), UPES Blackwell GPU, Google Colab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Resumable: one result file per (dataset, model, seed)</a:t>
            </a:r>
          </a:p>
          <a:p>
            <a:pPr algn="l" marL="201168" indent="-201168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Software: Python 3.12, PyTorch, pandas, Jupyter, LaTeX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Technical diagram: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Kaggle data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kagglehub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645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Preprocessing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data_session / data_basket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06324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Models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kan.py, session.py, basket.py, kannbr.py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06324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Training + eval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experiments.py, metrics.py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4805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Results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JSON + NPZ per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4805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B2B2B"/>
                </a:solidFill>
                <a:latin typeface="Arial"/>
              </a:rPr>
              <a:t>Report</a:t>
            </a:r>
          </a:p>
          <a:p>
            <a:pPr algn="ctr"/>
            <a:r>
              <a:rPr sz="1300" b="0" i="0">
                <a:solidFill>
                  <a:srgbClr val="2B2B2B"/>
                </a:solidFill>
                <a:latin typeface="Arial"/>
              </a:rPr>
              <a:t>report.py: LaTeX tables, figures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130552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2606040"/>
            <a:ext cx="0" cy="45720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46720" y="3547872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4023360"/>
            <a:ext cx="0" cy="45720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965192"/>
            <a:ext cx="32004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4983480"/>
            <a:ext cx="402336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5047488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2A41"/>
                </a:solidFill>
                <a:latin typeface="Arial"/>
              </a:rPr>
              <a:t>Code and results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7FC8"/>
                </a:solidFill>
                <a:latin typeface="Arial"/>
              </a:rPr>
              <a:t>github.com/yashdagar/kan-rec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5. Working Model: Attained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unit 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01568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7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datasets with published protocols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63056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0.690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GRU4Rec Recall@20 (SR-GNN table: 0.606)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24544" y="118872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24544" y="1261872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E86A10"/>
                </a:solidFill>
                <a:latin typeface="Arial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1704" y="20574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finished model runs (resumable)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Fixes to the first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Leaky sample-level split replaced by session- and time-based splits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Test set no longer used for model selection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Degree-0 'B-spline' replaced by a verified cubic B-spline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Ungated recurrent KAN replaced by gated KAN placements</a:t>
            </a:r>
          </a:p>
          <a:p>
            <a:pPr algn="l" marL="201168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Every KAN paired with a parameter-matched MLP</a:t>
            </a:r>
          </a:p>
        </p:txBody>
      </p:sp>
      <p:pic>
        <p:nvPicPr>
          <p:cNvPr id="17" name="Picture 16" descr="audit_bspline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0400"/>
            <a:ext cx="5166360" cy="15783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870158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First-draft basis (step functions) vs. corrected cubic B-spline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6. Results: Test Cases and Reproduction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6400800" cy="38679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20240"/>
                <a:gridCol w="3657600"/>
                <a:gridCol w="82296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Test case (pytest)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Checks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B-spline basis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partition of unity; equals closed-form cubic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 layer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shapes, gradients, parameter count formula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Matched MLP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parameters within 2% of the KAN it controls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GRU4Rec wrapper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identical outputs to the official model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Session iterator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same batches as the official iterator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Metrics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toy rankings; vectorised = loop version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Splits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no session or user in two splits; time order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KAN-NBR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batched scores = per-user scores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2E8B57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60920" y="10972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A41"/>
                </a:solidFill>
                <a:latin typeface="Arial"/>
              </a:rPr>
              <a:t>Reproduction (YooChoose 1/64)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0" y="1554480"/>
          <a:ext cx="42976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60920" y="475488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Test Recall@20. Our GRU4Rec uses the tuned official settings (Hidasi &amp; Karatzoglou 2018), so it exceeds the older number in the SR-GNN 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6. Results: Session-Based (YooChoose 1/64)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097280"/>
          <a:ext cx="67665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635240" y="1234440"/>
            <a:ext cx="201168" cy="20116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09560" y="117957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19" y="1234440"/>
            <a:ext cx="201168" cy="201168"/>
          </a:xfrm>
          <a:prstGeom prst="rect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5440" y="117957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0" y="1234440"/>
            <a:ext cx="201168" cy="201168"/>
          </a:xfrm>
          <a:prstGeom prst="rect">
            <a:avLst/>
          </a:prstGeom>
          <a:solidFill>
            <a:srgbClr val="1E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61320" y="117957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Arial"/>
              </a:rPr>
              <a:t>Matched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737360"/>
            <a:ext cx="3977639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Findings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head and KAN input do not beat their MLP controls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Putting the non-linearity inside the GRU cell helps both KAN and MLP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Best: KAN-GRU cell with rational basis, </a:t>
            </a:r>
            <a:r>
              <a:rPr sz="1400" b="1" i="0">
                <a:solidFill>
                  <a:srgbClr val="E86A10"/>
                </a:solidFill>
                <a:latin typeface="Arial"/>
              </a:rPr>
              <a:t>0.7095</a:t>
            </a:r>
            <a:r>
              <a:rPr sz="1400" b="0" i="0">
                <a:solidFill>
                  <a:srgbClr val="2B2B2B"/>
                </a:solidFill>
                <a:latin typeface="Arial"/>
              </a:rPr>
              <a:t> vs matched MLP 0.7035 and GRU4Rec 0.6901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2B2B2B"/>
                </a:solidFill>
                <a:latin typeface="Arial"/>
              </a:rPr>
              <a:t>A wider GRU4Rec with the same parameters does not help, so the gain is not just size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6B7280"/>
                </a:solidFill>
                <a:latin typeface="Arial"/>
              </a:rPr>
              <a:t>Seed 43 agrees; third seed pending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6. Results: Next-Basket (Instacart, Dunnhumby)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097280"/>
          <a:ext cx="54864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79" y="1097280"/>
          <a:ext cx="5486400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32120"/>
            <a:ext cx="10927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6A10"/>
                </a:solidFill>
                <a:latin typeface="Arial"/>
              </a:rPr>
              <a:t>Finding: </a:t>
            </a:r>
            <a:r>
              <a:rPr sz="1400" b="0" i="0">
                <a:solidFill>
                  <a:srgbClr val="2B2B2B"/>
                </a:solidFill>
                <a:latin typeface="Arial"/>
              </a:rPr>
              <a:t>KAN head and input blocks hurt the basket-GRU; a KAN-GRU cell helps a little but its matched MLP helps as much or more. Frequency models win, and KAN-NBR matches the best of them while staying interpretable.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6. Results: Interpretability of KAN-NBR</a:t>
            </a:r>
          </a:p>
        </p:txBody>
      </p:sp>
      <p:pic>
        <p:nvPicPr>
          <p:cNvPr id="3" name="Picture 2" descr="kannbr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38356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983480"/>
            <a:ext cx="10927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Arial"/>
              </a:rPr>
              <a:t>Each curve is one learned KAN function: its contribution to the purchase logit.</a:t>
            </a:r>
          </a:p>
          <a:p>
            <a:pPr algn="l" marL="201168" indent="-201168">
              <a:spcAft>
                <a:spcPts val="400"/>
              </a:spcAft>
              <a:buFont typeface="Arial"/>
              <a:buChar char="•"/>
            </a:pPr>
            <a:r>
              <a:rPr sz="1400" b="1" i="0">
                <a:solidFill>
                  <a:srgbClr val="E86A10"/>
                </a:solidFill>
                <a:latin typeface="Arial"/>
              </a:rPr>
              <a:t>Overdue ratio: </a:t>
            </a:r>
            <a:r>
              <a:rPr sz="1400" b="0" i="0">
                <a:solidFill>
                  <a:srgbClr val="2B2B2B"/>
                </a:solidFill>
                <a:latin typeface="Arial"/>
              </a:rPr>
              <a:t>the purchase probability peaks when an item is about one usual interval overdue, then falls; a logistic model can only fit a straight line here.</a:t>
            </a:r>
          </a:p>
          <a:p>
            <a:pPr algn="l" marL="201168" indent="-201168">
              <a:spcAft>
                <a:spcPts val="400"/>
              </a:spcAft>
              <a:buFont typeface="Arial"/>
              <a:buChar char="•"/>
            </a:pPr>
            <a:r>
              <a:rPr sz="1400" b="1" i="0">
                <a:solidFill>
                  <a:srgbClr val="E86A10"/>
                </a:solidFill>
                <a:latin typeface="Arial"/>
              </a:rPr>
              <a:t>Recency and frequency: </a:t>
            </a:r>
            <a:r>
              <a:rPr sz="1400" b="0" i="0">
                <a:solidFill>
                  <a:srgbClr val="2B2B2B"/>
                </a:solidFill>
                <a:latin typeface="Arial"/>
              </a:rPr>
              <a:t>recent and frequent items score higher, with diminishing returns.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6. Results: KAN vs Matched MLP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406640" cy="47183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2194560"/>
                <a:gridCol w="1097280"/>
                <a:gridCol w="914400"/>
                <a:gridCol w="914400"/>
                <a:gridCol w="91440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Placement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KAN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YooChoose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0.6832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0.6878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YooChoose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Recall@20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0.6669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0.6854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YooChoose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GRU cell (RBF)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0.6926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0.7016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YooChoose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GRU cell (rational)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Recall@20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0.7095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0.7035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E86A10"/>
                          </a:solidFill>
                          <a:latin typeface="Arial"/>
                        </a:rPr>
                        <a:t>KAN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Instacart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0.1420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0.2375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Instacart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0.1067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0.2293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Instacart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GRU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0.2517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0.2639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Dunnhumby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Head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0.1535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0.1722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Dunnhumby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0.1634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0.1787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1E7FC8"/>
                          </a:solidFill>
                          <a:latin typeface="Arial"/>
                        </a:rPr>
                        <a:t>MLP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Dunnhumby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GRU cell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0.1709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0.1726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6B7280"/>
                          </a:solidFill>
                          <a:latin typeface="Arial"/>
                        </a:rPr>
                        <a:t>tie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Dunnhumby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KAN-NBR vs MLP-NBR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Recall@10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0.2101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0.2050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E86A10"/>
                          </a:solidFill>
                          <a:latin typeface="Arial"/>
                        </a:rPr>
                        <a:t>KAN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0" y="1097280"/>
            <a:ext cx="315468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49640" y="10972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86A1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1097280"/>
            <a:ext cx="2011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KAN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304288"/>
            <a:ext cx="315468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49640" y="2304288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E7FC8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304288"/>
            <a:ext cx="2011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MLP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511296"/>
            <a:ext cx="315468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49640" y="3511296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B7280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3511296"/>
            <a:ext cx="2011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within 0.002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0060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Same parameter count in every pair; single seed (Mac profile), difference threshold 0.002.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7. Conclusion: Justification of Objectives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927080" cy="38404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80010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54864" marR="54864" marT="18288" marB="18288" anchor="ctr"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Fix first-draft errors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Done: new splits, verified B-spline, gated placements, errata appendix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KAN layer, four bases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Done: unit-tested; rational basis is the most efficient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KAN in GRU4Rec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Head/input: no gain over MLP. Cell (rational): best Recall@20 on YooChoose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KAN in basket-GRU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No gain; frequency methods dominate next-basket accuracy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Fair comparison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Matched MLPs, wide GRU, significance tests, published protocols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KAN-NBR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Arial"/>
                        </a:rPr>
                        <a:t>Matches TIFU-KNN-level accuracy with readable feature curves</a:t>
                      </a:r>
                    </a:p>
                  </a:txBody>
                  <a:tcPr marL="54864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5285232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86A10"/>
                </a:solidFill>
                <a:latin typeface="Arial"/>
              </a:rPr>
              <a:t>Take-away: </a:t>
            </a:r>
            <a:r>
              <a:rPr sz="1500" b="0" i="0">
                <a:solidFill>
                  <a:srgbClr val="2B2B2B"/>
                </a:solidFill>
                <a:latin typeface="Arial"/>
              </a:rPr>
              <a:t>KAN layers are not a free accuracy gain. Where they help, an equally large MLP usually helps as much; their clearest value is interpretability on small, meaningful inputs.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7. Conclusion: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68680" y="1417320"/>
            <a:ext cx="384048" cy="384048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38988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GPU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874519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three seeds, yoochoose1/4 and full Instacart on the UPES Blackwell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400800" y="1417320"/>
            <a:ext cx="384048" cy="384048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8988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Attention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74519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group-rational KAN in the feed-forward block of SASRec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68680" y="3063240"/>
            <a:ext cx="384048" cy="384048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03580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Covariates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5204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KAN curves over time of day and days since last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400800" y="3063240"/>
            <a:ext cx="384048" cy="384048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03580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More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5204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Diginetica as a second session benchmark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68172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KAN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516636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grid extension during training; faster fused kernels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48056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00800" y="4709160"/>
            <a:ext cx="384048" cy="384048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68172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A41"/>
                </a:solidFill>
                <a:latin typeface="Arial"/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16636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a small KAN-NBR service for interpretable basket suggestions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29184" y="237744"/>
            <a:ext cx="9509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46B0FA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2708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8E24AA"/>
                </a:solidFill>
                <a:latin typeface="Arial"/>
              </a:rPr>
              <a:t>A: Paper published. </a:t>
            </a:r>
            <a:r>
              <a:rPr sz="1300" b="0" i="0">
                <a:solidFill>
                  <a:srgbClr val="2B2B2B"/>
                </a:solidFill>
                <a:latin typeface="Arial"/>
              </a:rPr>
              <a:t>None yet; a paper on the KAN-GRU cell and KAN-NBR results is in preparation.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Arial"/>
              </a:rPr>
              <a:t>B: Cited papers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Hidasi, B., Karatzoglou, A., Baltrunas, L., &amp; Tikk, D. (2016). Session-based recommendations with recurrent neural networks. ICLR.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Hidasi, B., &amp; Karatzoglou, A. (2018). Recurrent neural networks with top-k gains for session-based recommendations. CIKM, 843-852.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Hidasi, B., &amp; Czapp, A. T. (2023). The effect of third party implementations on reproducibility. RecSys, 272-282.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Wu, S., Tang, Y., Zhu, Y., Wang, L., Xie, X., &amp; Tan, T. (2019). Session-based recommendation with graph neural networks. AAAI, 346-353.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Hu, H., He, X., Gao, J., &amp; Zhang, Z.-L. (2020). Modeling personalized item frequency information for next-basket recommendation. SIGIR, 1071-1080.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Li, M., Jullien, S., Ariannezhad, M., &amp; de Rijke, M. (2023). A next basket recommendation reality check. ACM TOIS, 41(4), 116.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van Maasakkers, L., Fok, D., &amp; Donkers, B. (2023). Next-basket prediction in a high-dimensional setting using gated recurrent units. Expert Systems with Applications, 212, 118795.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Liu, Z., Wang, Y., Vaidya, S., et al. (2025). KAN: Kolmogorov-Arnold networks. ICLR.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Yu, R., Yu, W., &amp; Wang, X. (2024). KAN or MLP: A fairer comparison. arXiv:2407.16674.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Hou, Y., Ji, T., Zhang, D., &amp; Stefanidis, A. (2025). Kolmogorov-Arnold networks: A critical assessment of claims, performance, and practical viability. arXiv:2407.11075.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Genet, R., &amp; Inzirillo, H. (2024). TKAN: Temporal Kolmogorov-Arnold networks. arXiv:2405.07344.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Yang, X., &amp; Wang, X. (2025). Kolmogorov-Arnold Transformer. ICLR.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Park, J.-D., Kim, K.-M., &amp; Shin, W.-Y. (2024). CF-KAN: Kolmogorov-Arnold network-based collaborative filtering. arXiv:2409.05878.</a:t>
            </a:r>
          </a:p>
          <a:p>
            <a:pPr algn="l" marL="201168" indent="-201168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2B2B2B"/>
                </a:solidFill>
                <a:latin typeface="Arial"/>
              </a:rPr>
              <a:t>Xu, Y., Fang, X., Gong, J., et al. (2026). Enhancing global and local interests fusion based on Kolmogorov-Arnold networks for sequential recommendation. Multimedia Systems, 32(2), 81.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12293</TotalTime>
  <Words>153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Bhagwant Singh</cp:lastModifiedBy>
  <cp:revision>571</cp:revision>
  <dcterms:created xsi:type="dcterms:W3CDTF">2021-05-06T09:42:21Z</dcterms:created>
  <dcterms:modified xsi:type="dcterms:W3CDTF">2022-03-17T06:55:53Z</dcterms:modified>
</cp:coreProperties>
</file>