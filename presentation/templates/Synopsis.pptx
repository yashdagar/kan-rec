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imes New Roman" charset="1" panose="02020603050405020304"/>
      <p:regular r:id="rId20"/>
    </p:embeddedFont>
    <p:embeddedFont>
      <p:font typeface="Times New Roman Bold" charset="1" panose="02020803070505020304"/>
      <p:regular r:id="rId21"/>
    </p:embeddedFont>
    <p:embeddedFont>
      <p:font typeface="Calibri (MS)" charset="1" panose="020F05020202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lucid.app/lucidchart/3c294b53-3f94-41c8-a003-208952ac22b7/edit?viewport_loc=-5248%2C-2173%2C3614%2C2128%2C0_0&amp;invitationId=inv_3aee6b42-590c-4a16-979c-c1183ee1a385" TargetMode="External" Type="http://schemas.openxmlformats.org/officeDocument/2006/relationships/hyperlink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4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02000" y="225704"/>
            <a:ext cx="2071868" cy="1024357"/>
            <a:chOff x="0" y="0"/>
            <a:chExt cx="2762491" cy="13658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2504" cy="1365758"/>
            </a:xfrm>
            <a:custGeom>
              <a:avLst/>
              <a:gdLst/>
              <a:ahLst/>
              <a:cxnLst/>
              <a:rect r="r" b="b" t="t" l="l"/>
              <a:pathLst>
                <a:path h="1365758" w="2762504">
                  <a:moveTo>
                    <a:pt x="0" y="0"/>
                  </a:moveTo>
                  <a:lnTo>
                    <a:pt x="2762504" y="0"/>
                  </a:lnTo>
                  <a:lnTo>
                    <a:pt x="2762504" y="1365758"/>
                  </a:lnTo>
                  <a:lnTo>
                    <a:pt x="0" y="136575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48" y="189166"/>
            <a:ext cx="1314259" cy="2237518"/>
            <a:chOff x="0" y="0"/>
            <a:chExt cx="1752346" cy="2983357"/>
          </a:xfrm>
        </p:grpSpPr>
        <p:sp>
          <p:nvSpPr>
            <p:cNvPr name="Freeform 9" id="9" descr="A picture containing text, sign, outdoor  Description automatically generated"/>
            <p:cNvSpPr/>
            <p:nvPr/>
          </p:nvSpPr>
          <p:spPr>
            <a:xfrm flipH="false" flipV="false" rot="0">
              <a:off x="0" y="0"/>
              <a:ext cx="1752346" cy="2983357"/>
            </a:xfrm>
            <a:custGeom>
              <a:avLst/>
              <a:gdLst/>
              <a:ahLst/>
              <a:cxnLst/>
              <a:rect r="r" b="b" t="t" l="l"/>
              <a:pathLst>
                <a:path h="2983357" w="1752346">
                  <a:moveTo>
                    <a:pt x="0" y="0"/>
                  </a:moveTo>
                  <a:lnTo>
                    <a:pt x="1752346" y="0"/>
                  </a:lnTo>
                  <a:lnTo>
                    <a:pt x="1752346" y="2983357"/>
                  </a:lnTo>
                  <a:lnTo>
                    <a:pt x="0" y="29833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8" r="0" b="-11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23571" y="215532"/>
            <a:ext cx="6650298" cy="2147830"/>
            <a:chOff x="0" y="0"/>
            <a:chExt cx="8867064" cy="2863774"/>
          </a:xfrm>
        </p:grpSpPr>
        <p:sp>
          <p:nvSpPr>
            <p:cNvPr name="Freeform 11" id="11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8867013" cy="2863723"/>
            </a:xfrm>
            <a:custGeom>
              <a:avLst/>
              <a:gdLst/>
              <a:ahLst/>
              <a:cxnLst/>
              <a:rect r="r" b="b" t="t" l="l"/>
              <a:pathLst>
                <a:path h="2863723" w="8867013">
                  <a:moveTo>
                    <a:pt x="0" y="0"/>
                  </a:moveTo>
                  <a:lnTo>
                    <a:pt x="8867013" y="0"/>
                  </a:lnTo>
                  <a:lnTo>
                    <a:pt x="8867013" y="2863723"/>
                  </a:lnTo>
                  <a:lnTo>
                    <a:pt x="0" y="2863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503" r="0" b="-16504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272609" y="3580609"/>
            <a:ext cx="5685036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</a:t>
            </a:r>
            <a:r>
              <a:rPr lang="en-US" sz="8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4022" y="5260515"/>
            <a:ext cx="1473995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 Session Based Recommendation System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688" y="7744968"/>
            <a:ext cx="5475031" cy="177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</a:t>
            </a:r>
          </a:p>
          <a:p>
            <a:pPr algn="just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Abhishek Yadav 500124297</a:t>
            </a:r>
          </a:p>
          <a:p>
            <a:pPr algn="just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Saksham Agrawal 500121969</a:t>
            </a:r>
          </a:p>
          <a:p>
            <a:pPr algn="just">
              <a:lnSpc>
                <a:spcPts val="3480"/>
              </a:lnSpc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Yash Dagar 500125147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50743" y="7744968"/>
            <a:ext cx="4629708" cy="220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 </a:t>
            </a:r>
          </a:p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Amar Jindal</a:t>
            </a:r>
          </a:p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Professor,</a:t>
            </a:r>
          </a:p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Science Cluster</a:t>
            </a:r>
          </a:p>
          <a:p>
            <a:pPr algn="l">
              <a:lnSpc>
                <a:spcPts val="347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0330" y="390087"/>
            <a:ext cx="209966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46B0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8174" y="1888169"/>
            <a:ext cx="6792687" cy="688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 marL="647700" indent="-323850" lvl="1">
              <a:lnSpc>
                <a:spcPts val="36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Swot Analysis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 Chart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AutoNum type="arabicPeriod" startAt="1"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54916" y="51206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77898" y="527123"/>
            <a:ext cx="403216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59838"/>
            <a:ext cx="16230600" cy="741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3"/>
              </a:lnSpc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Concept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session-based recommendation system predicts the next item a user is likely to interact with by analyzing only the current interaction sequence, without relying on long-term user profiles. This approach is essential in scenarios where user identity is unknown, short-lived, or privacy-restricted.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Kolmogorov–Arnold Networks (KANs) provide a function-approximation framework based on learnable univariate functions, enabling more interpretable and efficient modeling compared to traditional neural networks. By integrating KANs into session-based recommendation pipelines, the model can capture complex nonlinear patterns in user behavior while maintaining structural transparency and reduced parameter redundancy.</a:t>
            </a:r>
          </a:p>
          <a:p>
            <a:pPr algn="just">
              <a:lnSpc>
                <a:spcPts val="3096"/>
              </a:lnSpc>
            </a:pPr>
          </a:p>
          <a:p>
            <a:pPr algn="just">
              <a:lnSpc>
                <a:spcPts val="3483"/>
              </a:lnSpc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platforms operate with anonymous or short sessions where persistent user profiles are unavailable.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recommendation models depend heavily on historical user data, limiting their effectiveness in cold-start or privacy-focused environments.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deep learning approaches often act as black boxes, offering limited interpretability.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 networks introduce a mathematically grounded architecture that improves function approximation while providing clearer insight into learned relationships.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combination of session-based modeling and KAN architectures aims to deliver accurate, efficient, and interpretable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54916" y="51206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77898" y="527123"/>
            <a:ext cx="403216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606615"/>
            <a:ext cx="16230600" cy="2494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83"/>
              </a:lnSpc>
            </a:pPr>
            <a:r>
              <a:rPr lang="en-US" b="true" sz="27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Area of Application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E-commerce: Real-time product recommendations during a browsing session.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platforms: Suggesting movies, music, or videos based on recent interactions.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News and content portals: Recommending articles during a single reading session.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advertising: Context-aware ad placement without long-term user tracking.</a:t>
            </a:r>
          </a:p>
          <a:p>
            <a:pPr algn="just" marL="539762" indent="-269881" lvl="1">
              <a:lnSpc>
                <a:spcPts val="3225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and discovery systems: Improving next-item or next-query suggestions in short user sessions.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33" y="76200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graphicFrame>
        <p:nvGraphicFramePr>
          <p:cNvPr name="Object 6" id="6"/>
          <p:cNvGraphicFramePr/>
          <p:nvPr/>
        </p:nvGraphicFramePr>
        <p:xfrm>
          <a:off x="1028700" y="2280484"/>
          <a:ext cx="16230600" cy="3489315"/>
        </p:xfrm>
        <a:graphic>
          <a:graphicData uri="http://schemas.openxmlformats.org/presentationml/2006/ole">
            <p:oleObj imgW="19469100" imgH="67310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684626" y="434164"/>
            <a:ext cx="13279449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1"/>
              </a:lnSpc>
            </a:pPr>
            <a:r>
              <a:rPr lang="en-US" sz="469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  <a:r>
              <a:rPr lang="en-US" sz="469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.Literature Review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33" y="76200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4626" y="434164"/>
            <a:ext cx="13279449" cy="736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1"/>
              </a:lnSpc>
            </a:pPr>
            <a:r>
              <a:rPr lang="en-US" sz="469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  <a:r>
              <a:rPr lang="en-US" sz="469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Inference from Literature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458134"/>
            <a:ext cx="16230600" cy="748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Session-Based Recommendation Systems: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GRU4Rec effectively model sequential behavior but rely on MLP layers with fixed activations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 Parameter inefficiency, black-box nature, and catastrophic forgetting in long sequences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b="true" sz="307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Kolmogorov-Arnold Networks: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Learnable univariate spline functions on edges provide adaptive feature transformation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Grounded in Kolmogorov-Arnold representation theorem with superior function approximation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b="true" sz="307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KAN for Sequential Tasks: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TKAN/RKAN: Successfully integrated KAN with LSTM for time-series forecasting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T-KAN/MT-KAN: Achieved 40-60% parameter reduction without accuracy loss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KANRec : Applied KAN to sequential recommendation with global-local interest modeling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b="true" sz="307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Gap: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prior work applies KAN-RNN to session-based recommendation (anonymous, transient sequences)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 efficiency and interpretability of KAN unexplored in session-based contexts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benchmark evaluation on RecSys15/YOOCHOOSE for KAN-based session recommendation</a:t>
            </a:r>
          </a:p>
          <a:p>
            <a:pPr algn="just">
              <a:lnSpc>
                <a:spcPts val="3687"/>
              </a:lnSpc>
              <a:spcBef>
                <a:spcPct val="0"/>
              </a:spcBef>
            </a:pPr>
            <a:r>
              <a:rPr lang="en-US" sz="30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Contribution: First KAN-RNN hybrid for parameter-efficient, interpretable session-based recommendation on standard benchmarks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0330" y="390087"/>
            <a:ext cx="6021580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Problem Statement</a:t>
            </a:r>
          </a:p>
          <a:p>
            <a:pPr algn="l">
              <a:lnSpc>
                <a:spcPts val="5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351222" y="3861313"/>
            <a:ext cx="13585556" cy="2526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7" indent="-280669" lvl="1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session-based recommendation model that predicts the next most probable item from short, noisy, and highly variable interaction sequences, without relying on long-term user profiles or historical data.</a:t>
            </a:r>
          </a:p>
          <a:p>
            <a:pPr algn="just">
              <a:lnSpc>
                <a:spcPts val="3327"/>
              </a:lnSpc>
            </a:pPr>
          </a:p>
          <a:p>
            <a:pPr algn="just" marL="561337" indent="-280669" lvl="1">
              <a:lnSpc>
                <a:spcPts val="3327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 must achieve high accuracy, computational efficiency, and interpretability through a KAN-based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0330" y="390087"/>
            <a:ext cx="335190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530141"/>
            <a:ext cx="16150781" cy="389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3"/>
              </a:lnSpc>
              <a:spcBef>
                <a:spcPct val="0"/>
              </a:spcBef>
            </a:pPr>
            <a:r>
              <a:rPr lang="en-US" b="true" sz="27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Primary Goal:</a:t>
            </a:r>
            <a:r>
              <a:rPr lang="en-US" sz="27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3003"/>
              </a:lnSpc>
              <a:spcBef>
                <a:spcPct val="0"/>
              </a:spcBef>
            </a:pPr>
            <a:r>
              <a:rPr lang="en-US" sz="25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parameter-efficient KAN-RNN hybrid architecture for session-based recommendation that matches or exceeds MLP-RNN baseline performance while reducing model complexity.</a:t>
            </a:r>
          </a:p>
          <a:p>
            <a:pPr algn="just">
              <a:lnSpc>
                <a:spcPts val="3123"/>
              </a:lnSpc>
              <a:spcBef>
                <a:spcPct val="0"/>
              </a:spcBef>
            </a:pPr>
          </a:p>
          <a:p>
            <a:pPr algn="just">
              <a:lnSpc>
                <a:spcPts val="3243"/>
              </a:lnSpc>
              <a:spcBef>
                <a:spcPct val="0"/>
              </a:spcBef>
            </a:pPr>
            <a:r>
              <a:rPr lang="en-US" b="true" sz="270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Specific Objectives:</a:t>
            </a:r>
          </a:p>
          <a:p>
            <a:pPr algn="just" marL="540371" indent="-270186" lvl="1">
              <a:lnSpc>
                <a:spcPts val="30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MLP layers with KAN layers in RNN-based recommenders for adaptive feature transformation</a:t>
            </a:r>
          </a:p>
          <a:p>
            <a:pPr algn="just" marL="540371" indent="-270186" lvl="1">
              <a:lnSpc>
                <a:spcPts val="30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 competitive accuracy (Recall@20, MRR@20) on RecSys15 and YOOCHOOSE benchmarks</a:t>
            </a:r>
          </a:p>
          <a:p>
            <a:pPr algn="just" marL="540371" indent="-270186" lvl="1">
              <a:lnSpc>
                <a:spcPts val="30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parameter count by 40-60% compared to traditional MLP-RNN architectures</a:t>
            </a:r>
          </a:p>
          <a:p>
            <a:pPr algn="just" marL="540371" indent="-270186" lvl="1">
              <a:lnSpc>
                <a:spcPts val="30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interpretability through visualization of learned B-spline activation patterns</a:t>
            </a:r>
          </a:p>
          <a:p>
            <a:pPr algn="just" marL="540371" indent="-270186" lvl="1">
              <a:lnSpc>
                <a:spcPts val="30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 KAN as a theoretically grounded alternative to MLPs in sequential recommendation tasks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758" y="108314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43147" y="2595373"/>
            <a:ext cx="8134301" cy="4913521"/>
          </a:xfrm>
          <a:custGeom>
            <a:avLst/>
            <a:gdLst/>
            <a:ahLst/>
            <a:cxnLst/>
            <a:rect r="r" b="b" t="t" l="l"/>
            <a:pathLst>
              <a:path h="4913521" w="8134301">
                <a:moveTo>
                  <a:pt x="0" y="0"/>
                </a:moveTo>
                <a:lnTo>
                  <a:pt x="8134301" y="0"/>
                </a:lnTo>
                <a:lnTo>
                  <a:pt x="8134301" y="4913521"/>
                </a:lnTo>
                <a:lnTo>
                  <a:pt x="0" y="49135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683" t="0" r="0" b="-16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10860" y="2595373"/>
            <a:ext cx="8359549" cy="4849030"/>
          </a:xfrm>
          <a:custGeom>
            <a:avLst/>
            <a:gdLst/>
            <a:ahLst/>
            <a:cxnLst/>
            <a:rect r="r" b="b" t="t" l="l"/>
            <a:pathLst>
              <a:path h="4849030" w="8359549">
                <a:moveTo>
                  <a:pt x="0" y="0"/>
                </a:moveTo>
                <a:lnTo>
                  <a:pt x="8359549" y="0"/>
                </a:lnTo>
                <a:lnTo>
                  <a:pt x="8359549" y="4849030"/>
                </a:lnTo>
                <a:lnTo>
                  <a:pt x="0" y="48490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183" r="0" b="-818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0330" y="418957"/>
            <a:ext cx="402996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Methodology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330" y="1611940"/>
            <a:ext cx="467923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 Software model: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58092" y="7768253"/>
            <a:ext cx="386508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Fig.2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Kolmogorov Arnold Network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92480" y="7768253"/>
            <a:ext cx="443563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Fig.1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Long Short Term Memory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758" y="108314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328228"/>
            <a:ext cx="16230600" cy="653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KAN-RNN Architecture Design: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 a hybrid framework replacing MLP layers with KAN layers. Implement B-spline parameterized activation functions for adaptive feature transformation. Integrate KAN with GRU/LSTM encoders for temporal dependency modeling.</a:t>
            </a:r>
          </a:p>
          <a:p>
            <a:pPr algn="just">
              <a:lnSpc>
                <a:spcPts val="2749"/>
              </a:lnSpc>
            </a:pPr>
          </a:p>
          <a:p>
            <a:pPr algn="just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Implementation: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Build KAN layers with learnable univariate spline functions. Define hidden-state transformation. Implement output projection: ŷ = softmax(KAN(h_T)) for next-item prediction.</a:t>
            </a:r>
          </a:p>
          <a:p>
            <a:pPr algn="just">
              <a:lnSpc>
                <a:spcPts val="2749"/>
              </a:lnSpc>
            </a:pPr>
          </a:p>
          <a:p>
            <a:pPr algn="just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Hyperparameter Tuning &amp; Training: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Grid search over KAN parameters (spline order, grid size) and RNN parameters (hidden units, dropout). Train models using cross-entropy loss and Adam optimizer. Apply early stopping on validation loss.</a:t>
            </a:r>
          </a:p>
          <a:p>
            <a:pPr algn="just">
              <a:lnSpc>
                <a:spcPts val="2749"/>
              </a:lnSpc>
            </a:pPr>
          </a:p>
          <a:p>
            <a:pPr algn="just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Evaluation: 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metrics: Recall@20, MRR@20. Compare parameter counts and model sizes. Statistical significance testing for performance differences.</a:t>
            </a:r>
          </a:p>
          <a:p>
            <a:pPr algn="just">
              <a:lnSpc>
                <a:spcPts val="2749"/>
              </a:lnSpc>
            </a:pPr>
          </a:p>
          <a:p>
            <a:pPr algn="just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Interpretability Analysis: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Visualize learned B-spline activation patterns across layers. Generate feature transformation heatmaps. Compare interpretability with black-box MLP baselines.</a:t>
            </a:r>
          </a:p>
          <a:p>
            <a:pPr algn="just">
              <a:lnSpc>
                <a:spcPts val="2749"/>
              </a:lnSpc>
            </a:pPr>
          </a:p>
          <a:p>
            <a:pPr algn="just" marL="539748" indent="-269874" lvl="1">
              <a:lnSpc>
                <a:spcPts val="274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Ablation Study:</a:t>
            </a: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Analyze the impact of spline order, grid size, and number of KAN layers. Evaluate different RNN encoders (GRU vs. LSTM). Assess single vs. multi-layer KAN configurations.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8601" y="1502180"/>
            <a:ext cx="312506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Steps: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7" id="7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80330" y="418957"/>
            <a:ext cx="571178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Methodology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8314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80691" y="1499107"/>
            <a:ext cx="621234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Strengths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983" y="2289682"/>
            <a:ext cx="7911595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6" indent="-248283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Theoretically grounded (Kolmogorov-Arnold theorem)</a:t>
            </a:r>
          </a:p>
          <a:p>
            <a:pPr algn="just" marL="496566" indent="-248283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interpretability via B-spline visualization</a:t>
            </a:r>
          </a:p>
          <a:p>
            <a:pPr algn="just" marL="496566" indent="-248283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KAN-RNN application to session-based recommendation</a:t>
            </a:r>
          </a:p>
          <a:p>
            <a:pPr algn="just" marL="496566" indent="-248283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Leverages proven GRU/LSTM temporal encoders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1499107"/>
            <a:ext cx="512158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Weaknesses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4425" y="2299207"/>
            <a:ext cx="8589780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5" indent="-25907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implementation complexity (B-spline parameterization)</a:t>
            </a:r>
          </a:p>
          <a:p>
            <a:pPr algn="just" marL="518155" indent="-25907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Increased hyperparameter tuning requirements (grid size, spline order)</a:t>
            </a:r>
          </a:p>
          <a:p>
            <a:pPr algn="just" marL="518155" indent="-25907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Potential training overhead vs. standard activations</a:t>
            </a:r>
          </a:p>
          <a:p>
            <a:pPr algn="just" marL="518155" indent="-25907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prior validation at production scale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980494"/>
            <a:ext cx="421306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Opportunities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3083" y="5656769"/>
            <a:ext cx="7911595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5" indent="-25907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Emerging hot research area (KAN for sequences)</a:t>
            </a:r>
          </a:p>
          <a:p>
            <a:pPr algn="just" marL="518155" indent="-25907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Cross-domain applicability (video, music, clickstream)</a:t>
            </a:r>
          </a:p>
          <a:p>
            <a:pPr algn="just" marL="518155" indent="-25907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industry demand for explainable recommendations</a:t>
            </a:r>
          </a:p>
          <a:p>
            <a:pPr algn="just" marL="518155" indent="-259078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publication potential in active field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94678" y="4904294"/>
            <a:ext cx="574381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Threats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04425" y="5580569"/>
            <a:ext cx="8318325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Transformer-based model dominance</a:t>
            </a:r>
          </a:p>
          <a:p>
            <a:pPr algn="just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MLP variants may close performance gap</a:t>
            </a:r>
          </a:p>
          <a:p>
            <a:pPr algn="just" marL="518158" indent="-259079" lvl="1">
              <a:lnSpc>
                <a:spcPts val="287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Time/compute constraints for exhaustive evaluation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13" id="13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80330" y="418957"/>
            <a:ext cx="782072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SWOT Analysis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>
              <a:hlinkClick r:id="rId2" tooltip="https://lucid.app/lucidchart/3c294b53-3f94-41c8-a003-208952ac22b7/edit?viewport_loc=-5248%2C-2173%2C3614%2C2128%2C0_0&amp;invitationId=inv_3aee6b42-590c-4a16-979c-c1183ee1a385"/>
            </p:cNvPr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695" r="-8057" b="-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204389"/>
            <a:ext cx="16050625" cy="8082150"/>
          </a:xfrm>
          <a:custGeom>
            <a:avLst/>
            <a:gdLst/>
            <a:ahLst/>
            <a:cxnLst/>
            <a:rect r="r" b="b" t="t" l="l"/>
            <a:pathLst>
              <a:path h="8082150" w="16050625">
                <a:moveTo>
                  <a:pt x="0" y="0"/>
                </a:moveTo>
                <a:lnTo>
                  <a:pt x="16050625" y="0"/>
                </a:lnTo>
                <a:lnTo>
                  <a:pt x="16050625" y="8082150"/>
                </a:lnTo>
                <a:lnTo>
                  <a:pt x="0" y="8082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34" t="0" r="-261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0330" y="390087"/>
            <a:ext cx="394543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PERT Chart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0330" y="511616"/>
            <a:ext cx="345251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</a:t>
            </a: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5601" y="3803551"/>
            <a:ext cx="1619369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Liu, Z., Wang, Y., Vaidya, S., Ruehle, F., Halverson, J., Soljačić, M., Hou, T. Y., &amp; Tegmark, M. (2024). KAN: Kolmogorov-Arnold Networks. ArXiv. https://arxiv.org/abs/2404.19756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15245"/>
            <a:ext cx="1619369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Hou, Y., Ji, T., Zhang, D., &amp; Stefanidis, A. (2024). Kolmogorov-Arnold Networks: A Critical Assessment of Claims, Performance, and Practical Viability. ArXiv. https://arxiv.org/abs/2407.11075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965351"/>
            <a:ext cx="1615679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Hidasi, B., Karatzoglou, A., Baltrunas, L., &amp; Tikk, D. (2015). Session-based Recommendations with Recurrent Neural Networks. ArXiv. https://arxiv.org/abs/1511.06939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5601" y="5508526"/>
            <a:ext cx="16193699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Xu, Y., Fang, X., Gong, J. et al. Enhancing global and local interests fusion based on Kolmogorov-Arnold networks for sequential recommendation. Multimedia Systems 32, 81 (2026). https://doi.org/10.1007/s00530-025-02142-4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5601" y="6318151"/>
            <a:ext cx="16193699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Xu, K., Chen, L., &amp; Wang, S. (2024). Kolmogorov-Arnold Networks for Time Series: Bridging Predictive Power and Interpretability. ArXiv. https://arxiv.org/abs/2406.02496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5601" y="4622701"/>
            <a:ext cx="16193699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Sun, F., Liu, J., Wu, J., Pei, C., Lin, X., Ou, W., &amp; Jiang, P. (2019). BERT4Rec: Sequential Recommendation with Bidirectional Encoder Representations from Transformer. ArXiv. https://arxiv.org/abs/1904.06690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560414"/>
            <a:ext cx="1615679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Genet, R., &amp; Inzirillo, H. (2024). TKAN: Temporal Kolmogorov-Arnold Networks. ArXiv. https://arxiv.org/abs/2405.07344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44" y="108318"/>
            <a:ext cx="18040483" cy="10070373"/>
            <a:chOff x="0" y="0"/>
            <a:chExt cx="24053978" cy="13427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3927" cy="13427202"/>
            </a:xfrm>
            <a:custGeom>
              <a:avLst/>
              <a:gdLst/>
              <a:ahLst/>
              <a:cxnLst/>
              <a:rect r="r" b="b" t="t" l="l"/>
              <a:pathLst>
                <a:path h="13427202" w="24053927">
                  <a:moveTo>
                    <a:pt x="28575" y="0"/>
                  </a:moveTo>
                  <a:lnTo>
                    <a:pt x="24025352" y="0"/>
                  </a:lnTo>
                  <a:cubicBezTo>
                    <a:pt x="24041100" y="0"/>
                    <a:pt x="24053927" y="12827"/>
                    <a:pt x="24053927" y="28575"/>
                  </a:cubicBezTo>
                  <a:lnTo>
                    <a:pt x="24053927" y="13398627"/>
                  </a:lnTo>
                  <a:cubicBezTo>
                    <a:pt x="24053927" y="13414375"/>
                    <a:pt x="24041100" y="13427202"/>
                    <a:pt x="24025352" y="13427202"/>
                  </a:cubicBezTo>
                  <a:lnTo>
                    <a:pt x="28575" y="13427202"/>
                  </a:lnTo>
                  <a:cubicBezTo>
                    <a:pt x="12827" y="13427202"/>
                    <a:pt x="0" y="13414375"/>
                    <a:pt x="0" y="1339862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3398627"/>
                  </a:lnTo>
                  <a:lnTo>
                    <a:pt x="28575" y="13398627"/>
                  </a:lnTo>
                  <a:lnTo>
                    <a:pt x="28575" y="13370052"/>
                  </a:lnTo>
                  <a:lnTo>
                    <a:pt x="24025352" y="13370052"/>
                  </a:lnTo>
                  <a:lnTo>
                    <a:pt x="24025352" y="13398627"/>
                  </a:lnTo>
                  <a:lnTo>
                    <a:pt x="23996777" y="13398627"/>
                  </a:lnTo>
                  <a:lnTo>
                    <a:pt x="23996777" y="28575"/>
                  </a:lnTo>
                  <a:lnTo>
                    <a:pt x="24025352" y="28575"/>
                  </a:lnTo>
                  <a:lnTo>
                    <a:pt x="24025352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46B0F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77133" y="191729"/>
            <a:ext cx="2004384" cy="811159"/>
            <a:chOff x="0" y="0"/>
            <a:chExt cx="2672512" cy="1081545"/>
          </a:xfrm>
        </p:grpSpPr>
        <p:sp>
          <p:nvSpPr>
            <p:cNvPr name="Freeform 5" id="5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2672461" cy="1081532"/>
            </a:xfrm>
            <a:custGeom>
              <a:avLst/>
              <a:gdLst/>
              <a:ahLst/>
              <a:cxnLst/>
              <a:rect r="r" b="b" t="t" l="l"/>
              <a:pathLst>
                <a:path h="1081532" w="2672461">
                  <a:moveTo>
                    <a:pt x="0" y="0"/>
                  </a:moveTo>
                  <a:lnTo>
                    <a:pt x="2672461" y="0"/>
                  </a:lnTo>
                  <a:lnTo>
                    <a:pt x="2672461" y="1081532"/>
                  </a:lnTo>
                  <a:lnTo>
                    <a:pt x="0" y="1081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695" r="-8057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5808410" y="5400342"/>
            <a:ext cx="6671171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 b="true">
                <a:solidFill>
                  <a:srgbClr val="46B0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002000" y="225704"/>
            <a:ext cx="2071868" cy="1024357"/>
            <a:chOff x="0" y="0"/>
            <a:chExt cx="2762491" cy="13658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62504" cy="1365758"/>
            </a:xfrm>
            <a:custGeom>
              <a:avLst/>
              <a:gdLst/>
              <a:ahLst/>
              <a:cxnLst/>
              <a:rect r="r" b="b" t="t" l="l"/>
              <a:pathLst>
                <a:path h="1365758" w="2762504">
                  <a:moveTo>
                    <a:pt x="0" y="0"/>
                  </a:moveTo>
                  <a:lnTo>
                    <a:pt x="2762504" y="0"/>
                  </a:lnTo>
                  <a:lnTo>
                    <a:pt x="2762504" y="1365758"/>
                  </a:lnTo>
                  <a:lnTo>
                    <a:pt x="0" y="136575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989320" y="2564978"/>
            <a:ext cx="6309360" cy="2710282"/>
            <a:chOff x="0" y="0"/>
            <a:chExt cx="8412480" cy="3613709"/>
          </a:xfrm>
        </p:grpSpPr>
        <p:sp>
          <p:nvSpPr>
            <p:cNvPr name="Freeform 10" id="10" descr="A picture containing text, clipart  Description automatically generated"/>
            <p:cNvSpPr/>
            <p:nvPr/>
          </p:nvSpPr>
          <p:spPr>
            <a:xfrm flipH="false" flipV="false" rot="0">
              <a:off x="0" y="0"/>
              <a:ext cx="8412480" cy="3613658"/>
            </a:xfrm>
            <a:custGeom>
              <a:avLst/>
              <a:gdLst/>
              <a:ahLst/>
              <a:cxnLst/>
              <a:rect r="r" b="b" t="t" l="l"/>
              <a:pathLst>
                <a:path h="361365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13658"/>
                  </a:lnTo>
                  <a:lnTo>
                    <a:pt x="0" y="3613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DAHD26cGJO4</dc:identifier>
  <dcterms:modified xsi:type="dcterms:W3CDTF">2011-08-01T06:04:30Z</dcterms:modified>
  <cp:revision>1</cp:revision>
  <dc:title>Synopsis_PPT_major.pptx</dc:title>
</cp:coreProperties>
</file>