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640" r:id="rId2"/>
    <p:sldId id="3642" r:id="rId10"/>
    <p:sldId id="3643" r:id="rId11"/>
    <p:sldId id="3644" r:id="rId9"/>
    <p:sldId id="3645" r:id="rId8"/>
    <p:sldId id="3646" r:id="rId7"/>
    <p:sldId id="3647" r:id="rId6"/>
    <p:sldId id="3648" r:id="rId5"/>
    <p:sldId id="3649" r:id="rId4"/>
    <p:sldId id="3650" r:id="rId3"/>
    <p:sldId id="3651" r:id="rId19"/>
    <p:sldId id="3652" r:id="rId20"/>
    <p:sldId id="3653" r:id="rId21"/>
    <p:sldId id="3654" r:id="rId22"/>
    <p:sldId id="3655" r:id="rId23"/>
    <p:sldId id="3656" r:id="rId24"/>
    <p:sldId id="364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13" autoAdjust="0"/>
    <p:restoredTop sz="96327"/>
  </p:normalViewPr>
  <p:slideViewPr>
    <p:cSldViewPr snapToGrid="0" snapToObjects="1">
      <p:cViewPr varScale="1">
        <p:scale>
          <a:sx n="73" d="100"/>
          <a:sy n="73" d="100"/>
        </p:scale>
        <p:origin x="4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sequential recommendation tasks; both are modelled with GRUs, which gives a common place to insert KAN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KAN: learnable functions on edges instead of fixed activations on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 smtClean="0"/>
              <a:t>Major Project</a:t>
            </a:r>
            <a:endParaRPr lang="en-IN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395728"/>
            <a:ext cx="10360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smtClean="0"/>
              <a:t>Title: Kolmogorov-Arnold Networks in Recurrent Recommenders: Session-Based and Next-Basket Prediction</a:t>
            </a:r>
            <a:endParaRPr lang="en-I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4829" y="5003074"/>
            <a:ext cx="6217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Presented by:</a:t>
            </a:r>
          </a:p>
          <a:p>
            <a:r>
              <a:rPr lang="en-IN" dirty="0" smtClean="0"/>
              <a:t>Abhishek Yadav  |  R2142231410  |  SAP 500124297</a:t>
            </a:r>
          </a:p>
          <a:p>
            <a:r>
              <a:rPr lang="en-IN" dirty="0"/>
              <a:t>Saksham Agrawal  |  R2142231383  |  SAP 500121969</a:t>
            </a:r>
          </a:p>
          <a:p>
            <a:r>
              <a:rPr lang="en-IN" dirty="0"/>
              <a:t>Yash Dagar  |  R2142231424  |  SAP 500125147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2743" y="5003074"/>
            <a:ext cx="2717074" cy="1097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Mentored by:</a:t>
            </a:r>
            <a:endParaRPr lang="en-IN" dirty="0"/>
          </a:p>
          <a:p>
            <a:r>
              <a:rPr/>
              <a:t>Dr. Amar Jindal</a:t>
            </a:r>
          </a:p>
          <a:p>
            <a:r>
              <a:rPr/>
              <a:t>Assistant Professor,</a:t>
            </a:r>
          </a:p>
          <a:p>
            <a:r>
              <a:rPr/>
              <a:t>Data Science Cluster</a:t>
            </a:r>
          </a:p>
        </p:txBody>
      </p:sp>
      <p:sp>
        <p:nvSpPr>
          <p:cNvPr id="10" name="Stage"/>
          <p:cNvSpPr txBox="1"/>
          <p:nvPr/>
        </p:nvSpPr>
        <p:spPr>
          <a:xfrm>
            <a:off x="3108960" y="3429000"/>
            <a:ext cx="5971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8C28"/>
                </a:solidFill>
                <a:latin typeface="Arial"/>
              </a:rPr>
              <a:t>Mid-Term Evaluation</a:t>
            </a:r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Content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1325880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1307592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Introduction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07568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2057400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Literature Review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825496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807208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575304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3557016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Methodology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325112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4306824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Working Model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5074920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5056632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1. Introduction: Technical 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303520" cy="3886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Session-based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6B7280"/>
                </a:solidFill>
                <a:latin typeface="Arial"/>
              </a:rPr>
              <a:t>Anonymous browsing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00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Input: the clicks so far, i1, i2, ..., it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Output: a ranking of all items for the next click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No user profile: visitors are anonymous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Model: GRU4Rec (gated recurrent unit)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Data: YooChoose (RecSys Challenge 2015)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3886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Next-basket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6B7280"/>
                </a:solidFill>
                <a:latin typeface="Arial"/>
              </a:rPr>
              <a:t>Returning grocery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Input: the customer's past baskets B1 ... BT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Output: a ranking of all items for basket BT+1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Long histories, most items are re-purchases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Model: basket-GRU (van Maasakkers et al., 2023)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Data: Instacart, Dunnhumby Complete Journey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3035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6A10"/>
                </a:solidFill>
                <a:latin typeface="Arial"/>
              </a:rPr>
              <a:t>Common core: </a:t>
            </a:r>
            <a:r>
              <a:rPr sz="1600" b="0" i="0">
                <a:solidFill>
                  <a:srgbClr val="2B2B2B"/>
                </a:solidFill>
                <a:latin typeface="Arial"/>
              </a:rPr>
              <a:t>both tasks use a GRU. This project asks where, if anywhere, Kolmogorov-Arnold Network (KAN) layers improve these GRU recommenders when compared fairly.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1. Introduction: Technical Concepts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486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Kolmogorov-Arnold Network (KAN) layer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A learnable univariate function on every edge:</a:t>
            </a:r>
          </a:p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E86A10"/>
                </a:solidFill>
                <a:latin typeface="Arial"/>
              </a:rPr>
              <a:t>y_o = Σ_i φ_o,i(x_i),   φ(x) = w·silu(x) + Σ_k c_k B_k(x)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Four basis families B_k implemented: cubic B-spline, Gaussian RBF (FastKAN), Chebyshev, group-rational (GR-KAN)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GRU4Rec: official PyTorch code, session-parallel mini-batches, 2048 shared negatives, cross-entropy with logQ correction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Basket-GRU: multi-hot basket in, sigmoid score for every product out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Parameter-matched MLP control for every KAN block, so gains from extra parameters are not credited to the KAN</a:t>
            </a:r>
          </a:p>
        </p:txBody>
      </p:sp>
      <p:pic>
        <p:nvPicPr>
          <p:cNvPr id="4" name="Picture 3" descr="kan_b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5257800" cy="1337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5080" y="288036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Basis functions used inside the KAN layers (from our code)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342900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0" y="35204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2A41"/>
                </a:solidFill>
                <a:latin typeface="Arial"/>
              </a:rPr>
              <a:t>Residual KAN block</a:t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E86A10"/>
                </a:solidFill>
                <a:latin typeface="Arial"/>
              </a:rPr>
              <a:t>h' = h + KAN(LayerNorm(h))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Output layer initialised to zero, so each variant starts exactly as its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1. Introduction: Motivation and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Anonymous and privacy-restricted sessions make profile-based recommenders unusable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KANs are claimed to be more accurate per parameter and more interpretable than MLPs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Later studies (Yu et al. 2024; Hou et al. 2025) find KANs rarely win when parameters are matched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Our first draft compared KAN and GRU on a leaky split with a broken B-spline, so its numbers could not support any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257800" cy="475488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629400" y="1371600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920240"/>
            <a:ext cx="4709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Determine whether, and where, KAN layers improve GRU-based session and next-basket recommenders, under a protocol that allows a fair conclusion: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standard, leakage-free splits comparable with published work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verified implementations of baselines and KAN layers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parameter-matched MLP controls for every KAN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evaluation on both session and basket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1. Introduction: Applications and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Area of application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1907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E-commerce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next product in a browsing session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7919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Online grocery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pre-filled next basket, reminders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63931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6616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Streaming and news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next video, song or article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59943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52628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Privacy-first platforms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no long-term tracking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143000"/>
            <a:ext cx="6675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Datasets and input format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846320" y="1645920"/>
          <a:ext cx="676656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1737360"/>
                <a:gridCol w="173736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YooChoose 1/64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Instacart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Dunnhumby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next click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next basket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next basket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Raw input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session, time, item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user, order, product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household, basket, day, product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Model input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item ID sequence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multi-hot baskets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multi-hot baskets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Users / sessions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139,628 sessions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20,620 users*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2,478 households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Items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17,264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12,058 groups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10,370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Test targets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55,357 clicks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10,310 baskets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1,239 baskets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by time (last day)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last basket, users 50/50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last basket, users 50/50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846320" y="544068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* Mac profile: random 10% of Instacart users; the GPU profile uses all 206,209. Preprocessing follows GRU4Rec / SR-GNN and van Maasakkers et al. (2023).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2. Literature Review: Related 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927080" cy="47183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14600"/>
                <a:gridCol w="1005840"/>
                <a:gridCol w="2286000"/>
                <a:gridCol w="512064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Relevance / limitation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Hidasi et al.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2016/18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GRU4Rec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Strong session baseline; tuned version used here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Hidasi &amp; Czapp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Reimplementation study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Third-party GRU4Rec ports score 30-99% lower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Wu et al. (SR-GNN)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Graph 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Standard yoochoose1/64 benchmark table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Hu et al. (TIFU-KNN)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Frequency + kNN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Simple model beats most neural NBR models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Li et al.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NBR reality check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Repeat items dominate next-basket accuracy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van Maasakkers et al.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Basket-GRU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Our basket baseline and protocol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Liu et al. (KAN)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Learnable edge functions; slow to train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Yu et al.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vs MLP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With matched size, KAN wins only on symbolic formulas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Genet &amp; Inzirillo (TKAN)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in LSTM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inside a gated recurrent cell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Park et al. (CF-KAN)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autoencoder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Only KAN recommender with a matched MLP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Xu et al. (KANRec)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interest fusion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in sequential recommendation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2. Literature Review: Inference and Research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Session-based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GRU4Rec remains a strong baseline when the official code is used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Weak GRU4Rec results in many papers come from flawed reimplementations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8872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Next-basket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Repeat purchases carry most of the signal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Personal-frequency baselines and TIFU-KNN are very hard to beat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18872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75319" y="13258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KANs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1828800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Interpretable learned functions, but slower than MLPs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Gains often vanish against an MLP of the same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1092708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Research gap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No published work places KAN layers inside GRU4Rec or applies KANs to next-basket recommendation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Few KAN recommenders control for model size with a parameter-matched MLP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86A10"/>
                </a:solidFill>
                <a:latin typeface="Arial"/>
              </a:rPr>
              <a:t>Our question: </a:t>
            </a:r>
            <a:r>
              <a:rPr sz="1500" b="0" i="0">
                <a:solidFill>
                  <a:srgbClr val="2B2B2B"/>
                </a:solidFill>
                <a:latin typeface="Arial"/>
              </a:rPr>
              <a:t>where in a GRU recommender does a KAN layer help, compared with an MLP of the same size, on standard benchmarks?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2. Literature Review: SWOT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5349240" cy="2423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1344168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62456"/>
            <a:ext cx="4297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Official GRU4Rec and published protocols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Parameter-matched MLP control for every KAN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Unit-tested KAN layer with four bases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Three datasets, two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349240" cy="2423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400800" y="1344168"/>
            <a:ext cx="457200" cy="457200"/>
          </a:xfrm>
          <a:prstGeom prst="ellipse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362456"/>
            <a:ext cx="4297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Weaknesses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KAN layers are slower to train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Extra hyperparameters (basis, grid size)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Mac runs limited to one seed and a 10% Instacart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5349240" cy="2423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68680" y="3950207"/>
            <a:ext cx="457200" cy="457200"/>
          </a:xfrm>
          <a:prstGeom prst="ellipse">
            <a:avLst/>
          </a:prstGeom>
          <a:solidFill>
            <a:srgbClr val="1E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68496"/>
            <a:ext cx="4297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Opportunities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Interpretable models for repeat purchasing (KAN-NBR)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GPU runs on the UPES Blackwell cluster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KAN in attention models (SASRec)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349240" cy="2423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400800" y="3950207"/>
            <a:ext cx="457200" cy="457200"/>
          </a:xfrm>
          <a:prstGeom prst="ellipse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968496"/>
            <a:ext cx="4297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Threats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7200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Results may show no KAN advantage over MLPs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Transformer recommenders dominate recent work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Compute time for many variants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3.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927080" cy="118872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207008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86A10"/>
                </a:solidFill>
                <a:latin typeface="Arial"/>
              </a:rPr>
              <a:t>Main objective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Build and fairly evaluate KAN-augmented GRU recommenders for session-based and next-basket prediction, and report where KAN layers help and where they do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Sub-objectives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3063240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Correct the methodological and reporting errors of the first draft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3154680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063240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Implement and unit-test a KAN layer with B-spline, RBF, Chebyshev and rational bases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17880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087368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Add KAN layers to official GRU4Rec in three places: head, input, GRU cell</a:t>
            </a:r>
          </a:p>
        </p:txBody>
      </p:sp>
      <p:sp>
        <p:nvSpPr>
          <p:cNvPr id="12" name="Oval 11"/>
          <p:cNvSpPr/>
          <p:nvPr/>
        </p:nvSpPr>
        <p:spPr>
          <a:xfrm>
            <a:off x="6172200" y="417880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087368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Apply the same placements to the basket-GRU on Instacart and Dunnhumby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202936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5111496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Compare with parameter-matched MLPs and strong non-neural baselines, with significance tests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5202936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111496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Propose KAN-NBR, an interpretable additive KAN over repeat-purchase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4. Methodology: Reference Software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KAN placements in GRU4Rec (same placements in the basket-GRU)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Item i_t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(or basket)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7830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Embedding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E[i_t]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39" y="2286000"/>
            <a:ext cx="365761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89120" y="178308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Input block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S2: KAN / MLP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2286000"/>
            <a:ext cx="3657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46520" y="178308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GRU cell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S3: KAN-GRU cell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286000"/>
            <a:ext cx="3657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03920" y="178308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Head block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S1: KAN / MLP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38160" y="2286000"/>
            <a:ext cx="3657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04120" y="1783080"/>
            <a:ext cx="146304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Scores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E·h' +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84080" y="2286000"/>
            <a:ext cx="32004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3154680"/>
          <a:ext cx="10927080" cy="21031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6263640"/>
                <a:gridCol w="24688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Placement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What changes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Matched control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S1  KAN head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h' = h + KAN(LN(h)) before dot-product scoring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+MLP head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S2  KAN input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x' = x + KAN(LN(E[i])) before the GRU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+MLP input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S3  KAN-GRU cell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gates stay linear + sigmoid; candidate n = tanh(KAN([x, r⊙h]))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MLP-GRU cell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Draft models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first-draft ungated Pure KAN and Hybrid, re-run fairly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Draft Hybrid (MLP)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" y="5440680"/>
            <a:ext cx="10927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86A10"/>
                </a:solidFill>
                <a:latin typeface="Arial"/>
              </a:rPr>
              <a:t>KAN-NBR: </a:t>
            </a:r>
            <a:r>
              <a:rPr sz="1500" b="0" i="0">
                <a:solidFill>
                  <a:srgbClr val="2B2B2B"/>
                </a:solidFill>
                <a:latin typeface="Arial"/>
              </a:rPr>
              <a:t>for baskets, an additive KAN over 7 repeat-purchase features (recency, count, share, decayed frequency, popularity, overdue ratio, in-history) gives one plottable curve per feature.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4. Methodology: Steps and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41247" y="138988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Data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YooChoose, Instacart, Dunnhumby with leakage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dataset tables, EDA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544568" y="138988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3716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KAN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4 bases, residual block, matched MLP, unit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kanrec/kan.py, 41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188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247888" y="138988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3716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Baselines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9659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official GRU4Rec, basket-GRU, Pop, kNN, TopFreq, TIFU-KNN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880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reproduction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41247" y="3904487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862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KAN variants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80559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head, input, cell; MLP controls; KAN-NBR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949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results per model and seed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7033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544568" y="3904487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8862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80559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Recall, MRR, NDCG, P@|B|, repeat/explore, Wilcoxon + Holm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3949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tables, figures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7033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247888" y="3904487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8862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480559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notebook-generated tables in LaTeX, SRS, slides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53949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report, SRS, decks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4. Methodology: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9122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86325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3527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0730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7932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5135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2337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9540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6742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3945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1147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5552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12755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9957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508760"/>
            <a:ext cx="10927080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19" y="155448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Literature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59352" y="1618488"/>
            <a:ext cx="1376743" cy="283464"/>
          </a:xfrm>
          <a:prstGeom prst="roundRect">
            <a:avLst>
              <a:gd name="adj" fmla="val 30000"/>
            </a:avLst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19" y="210312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Data acquisition and preprocessing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6554" y="2167127"/>
            <a:ext cx="1853946" cy="283464"/>
          </a:xfrm>
          <a:prstGeom prst="roundRect">
            <a:avLst>
              <a:gd name="adj" fmla="val 30000"/>
            </a:avLst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2606040"/>
            <a:ext cx="10927080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19" y="26517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KAN module and unit 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0959" y="2715768"/>
            <a:ext cx="1376743" cy="283464"/>
          </a:xfrm>
          <a:prstGeom prst="roundRect">
            <a:avLst>
              <a:gd name="adj" fmla="val 30000"/>
            </a:avLst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19" y="320040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Baselines and reproduction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68162" y="3264408"/>
            <a:ext cx="1853946" cy="283464"/>
          </a:xfrm>
          <a:prstGeom prst="roundRect">
            <a:avLst>
              <a:gd name="adj" fmla="val 30000"/>
            </a:avLst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0080" y="3703320"/>
            <a:ext cx="10927080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19" y="3749039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KAN variants and MLP controls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22567" y="3813048"/>
            <a:ext cx="2331148" cy="283464"/>
          </a:xfrm>
          <a:prstGeom prst="roundRect">
            <a:avLst>
              <a:gd name="adj" fmla="val 30000"/>
            </a:avLst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31519" y="429768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Next-basket models and KAN-NBR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6972" y="4361688"/>
            <a:ext cx="1853946" cy="283464"/>
          </a:xfrm>
          <a:prstGeom prst="roundRect">
            <a:avLst>
              <a:gd name="adj" fmla="val 30000"/>
            </a:avLst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40080" y="4800600"/>
            <a:ext cx="10927080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31519" y="484632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Ablations and GPU runs (3 seeds)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1377" y="4910328"/>
            <a:ext cx="1853946" cy="283464"/>
          </a:xfrm>
          <a:prstGeom prst="roundRect">
            <a:avLst>
              <a:gd name="adj" fmla="val 30000"/>
            </a:avLst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19" y="53949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Analysis, report, SRS, slides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08579" y="5458968"/>
            <a:ext cx="2331148" cy="283464"/>
          </a:xfrm>
          <a:prstGeom prst="roundRect">
            <a:avLst>
              <a:gd name="adj" fmla="val 30000"/>
            </a:avLst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7731252" y="1463040"/>
            <a:ext cx="0" cy="4526280"/>
          </a:xfrm>
          <a:prstGeom prst="line">
            <a:avLst/>
          </a:prstGeom>
          <a:ln w="25400">
            <a:solidFill>
              <a:srgbClr val="F28C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16852" y="5989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28C28"/>
                </a:solidFill>
                <a:latin typeface="Arial"/>
              </a:rPr>
              <a:t>Mid-term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548872" y="1463040"/>
            <a:ext cx="0" cy="4526280"/>
          </a:xfrm>
          <a:prstGeom prst="line">
            <a:avLst/>
          </a:prstGeom>
          <a:ln w="25400">
            <a:solidFill>
              <a:srgbClr val="8E24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634472" y="59893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8E24AA"/>
                </a:solidFill>
                <a:latin typeface="Arial"/>
              </a:rPr>
              <a:t>End-term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5. Working Model: Requirements and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023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Full SRS: KAN_Rec_SRS.docx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Functional: download, preprocess, train, evaluate and report every model from one notebook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Hardware profiles: Mac (Apple MPS), UPES Blackwell GPU, Google Colab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Resumable: one result file per (dataset, model, seed)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Software: Python 3.12, PyTorch, pandas, Jupyter, LaTeX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Technical diagram: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459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Kaggle data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kagglehub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6459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Preprocessing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data_session / data_basket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06324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Models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kan.py, session.py, basket.py, kannbr.py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06324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Training + eval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experiments.py, metrics.py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4805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Results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JSON + NPZ per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44805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Report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report.py: LaTeX tables, figures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2130552"/>
            <a:ext cx="32004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75520" y="2606040"/>
            <a:ext cx="0" cy="45720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046720" y="3547872"/>
            <a:ext cx="32004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4023360"/>
            <a:ext cx="0" cy="45720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965192"/>
            <a:ext cx="32004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4983480"/>
            <a:ext cx="402336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5047488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2A41"/>
                </a:solidFill>
                <a:latin typeface="Arial"/>
              </a:rPr>
              <a:t>Code and results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7FC8"/>
                </a:solidFill>
                <a:latin typeface="Arial"/>
              </a:rPr>
              <a:t>github.com/yashdagar/kan-rec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5. Working Model: Attained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E86A10"/>
                </a:solidFill>
                <a:latin typeface="Arial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unit tests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18872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01568" y="1261872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E86A1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7" y="20574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datasets with published protocols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18872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63056" y="1261872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E86A10"/>
                </a:solidFill>
                <a:latin typeface="Arial"/>
              </a:rPr>
              <a:t>0.690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0574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GRU4Rec Recall@20 (SR-GNN table: 0.606)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24544" y="118872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24544" y="1261872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E86A10"/>
                </a:solidFill>
                <a:latin typeface="Arial"/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1704" y="20574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finished model runs (resumable)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Fixes to the first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Leaky sample-level split replaced by session- and time-based splits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Test set no longer used for model selection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Degree-0 'B-spline' replaced by a verified cubic B-spline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Ungated recurrent KAN replaced by gated KAN placements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Every KAN paired with a parameter-matched MLP</a:t>
            </a:r>
          </a:p>
        </p:txBody>
      </p:sp>
      <p:pic>
        <p:nvPicPr>
          <p:cNvPr id="17" name="Picture 16" descr="audit_bspline_b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00400"/>
            <a:ext cx="5166360" cy="15783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870158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First-draft basis (step functions) vs. corrected cubic B-spline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2708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Arial"/>
              </a:rPr>
              <a:t>B: Cited papers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Hidasi, B., Karatzoglou, A., Baltrunas, L., &amp; Tikk, D. (2016). Session-based recommendations with recurrent neural networks. ICLR.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Hidasi, B., &amp; Karatzoglou, A. (2018). Recurrent neural networks with top-k gains for session-based recommendations. CIKM, 843-852.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Hidasi, B., &amp; Czapp, A. T. (2023). The effect of third party implementations on reproducibility. RecSys, 272-282.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Wu, S., Tang, Y., Zhu, Y., Wang, L., Xie, X., &amp; Tan, T. (2019). Session-based recommendation with graph neural networks. AAAI, 346-353.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Hu, H., He, X., Gao, J., &amp; Zhang, Z.-L. (2020). Modeling personalized item frequency information for next-basket recommendation. SIGIR, 1071-1080.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Li, M., Jullien, S., Ariannezhad, M., &amp; de Rijke, M. (2023). A next basket recommendation reality check. ACM TOIS, 41(4), 116.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van Maasakkers, L., Fok, D., &amp; Donkers, B. (2023). Next-basket prediction in a high-dimensional setting using gated recurrent units. Expert Systems with Applications, 212, 118795.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Liu, Z., Wang, Y., Vaidya, S., et al. (2025). KAN: Kolmogorov-Arnold networks. ICLR.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Yu, R., Yu, W., &amp; Wang, X. (2024). KAN or MLP: A fairer comparison. arXiv:2407.16674.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Hou, Y., Ji, T., Zhang, D., &amp; Stefanidis, A. (2025). Kolmogorov-Arnold networks: A critical assessment of claims, performance, and practical viability. arXiv:2407.11075.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Genet, R., &amp; Inzirillo, H. (2024). TKAN: Temporal Kolmogorov-Arnold networks. arXiv:2405.07344.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Yang, X., &amp; Wang, X. (2025). Kolmogorov-Arnold Transformer. ICLR.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Park, J.-D., Kim, K.-M., &amp; Shin, W.-Y. (2024). CF-KAN: Kolmogorov-Arnold network-based collaborative filtering. arXiv:2409.05878.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Xu, Y., Fang, X., Gong, J., et al. (2026). Enhancing global and local interests fusion based on Kolmogorov-Arnold networks for sequential recommendation. Multimedia Systems, 32(2), 81.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12293</TotalTime>
  <Words>153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Bhagwant Singh</cp:lastModifiedBy>
  <cp:revision>571</cp:revision>
  <dcterms:created xsi:type="dcterms:W3CDTF">2021-05-06T09:42:21Z</dcterms:created>
  <dcterms:modified xsi:type="dcterms:W3CDTF">2022-03-17T06:55:53Z</dcterms:modified>
</cp:coreProperties>
</file>